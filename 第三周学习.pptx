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FDA"/>
    <a:srgbClr val="F2F7FC"/>
    <a:srgbClr val="DDEBF7"/>
    <a:srgbClr val="DFECD7"/>
    <a:srgbClr val="4874CB"/>
    <a:srgbClr val="7DDFD6"/>
    <a:srgbClr val="C8E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7" y="4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jp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6.jpe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D8B99-7E98-26B6-4321-844A2A47A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54317"/>
            <a:ext cx="9144000" cy="1155645"/>
          </a:xfrm>
        </p:spPr>
        <p:txBody>
          <a:bodyPr/>
          <a:lstStyle/>
          <a:p>
            <a:r>
              <a:rPr lang="zh-CN" altLang="en-US"/>
              <a:t>学习情况汇报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BF9DBF-43D7-2882-0F66-C1C9A1F39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0855" y="4079875"/>
            <a:ext cx="9144000" cy="1655762"/>
          </a:xfrm>
        </p:spPr>
        <p:txBody>
          <a:bodyPr/>
          <a:lstStyle/>
          <a:p>
            <a:r>
              <a:rPr lang="zh-CN" altLang="en-US"/>
              <a:t>汇报人：陈甫立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27E210-10FB-8835-5B27-074A20FED3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78228" cy="77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06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99F24-4D2B-4578-5E84-E344BBBB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978775"/>
            <a:ext cx="9451428" cy="696420"/>
          </a:xfrm>
        </p:spPr>
        <p:txBody>
          <a:bodyPr>
            <a:normAutofit/>
          </a:bodyPr>
          <a:lstStyle/>
          <a:p>
            <a:r>
              <a:rPr lang="zh-CN" altLang="en-US" sz="3000" b="1">
                <a:solidFill>
                  <a:srgbClr val="26558C"/>
                </a:solidFill>
                <a:latin typeface="Microsoft YaHei" panose="020B0503020204020204" pitchFamily="34" charset="-122"/>
                <a:ea typeface="+mn-ea"/>
                <a:cs typeface="+mn-cs"/>
              </a:rPr>
              <a:t>空间注意力机制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429FC83-34EB-C44A-AC6F-A97312E8B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7322" y="2323162"/>
            <a:ext cx="5913632" cy="19966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54FB375-0E88-F4A7-99B2-1B904B8A0376}"/>
              </a:ext>
            </a:extLst>
          </p:cNvPr>
          <p:cNvSpPr txBox="1"/>
          <p:nvPr/>
        </p:nvSpPr>
        <p:spPr>
          <a:xfrm>
            <a:off x="788276" y="5315952"/>
            <a:ext cx="10184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>
                <a:effectLst/>
                <a:latin typeface="Arial" panose="020B0604020202020204" pitchFamily="34" charset="0"/>
              </a:rPr>
              <a:t>空间注意力机制（Spatial Attention Mechanism, SAM）旨在通过关注特征图中不同空间位置的重要性，来提升模型的性能。它通过生成权重掩膜，为</a:t>
            </a:r>
            <a:r>
              <a:rPr lang="zh-CN" altLang="zh-CN" b="1" i="0">
                <a:effectLst/>
                <a:latin typeface="Arial" panose="020B0604020202020204" pitchFamily="34" charset="0"/>
              </a:rPr>
              <a:t>每个空间位置分配不同的权重</a:t>
            </a:r>
            <a:r>
              <a:rPr lang="zh-CN" altLang="zh-CN" b="0" i="0">
                <a:effectLst/>
                <a:latin typeface="Arial" panose="020B0604020202020204" pitchFamily="34" charset="0"/>
              </a:rPr>
              <a:t>，从而强调对任务贡献最大的区域，同时抑制无关或冗余的区域。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7077FDA-B194-664B-65F5-940A36DCD63F}"/>
                  </a:ext>
                </a:extLst>
              </p:cNvPr>
              <p:cNvSpPr txBox="1"/>
              <p:nvPr/>
            </p:nvSpPr>
            <p:spPr>
              <a:xfrm>
                <a:off x="7508328" y="3275111"/>
                <a:ext cx="434830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𝑐𝑜𝑛𝑣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×7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([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𝐴𝑣𝑔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)]))</m:t>
                      </m:r>
                    </m:oMath>
                  </m:oMathPara>
                </a14:m>
                <a:endParaRPr lang="zh-CN" altLang="en-US" sz="200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7077FDA-B194-664B-65F5-940A36DCD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328" y="3275111"/>
                <a:ext cx="4348305" cy="307777"/>
              </a:xfrm>
              <a:prstGeom prst="rect">
                <a:avLst/>
              </a:prstGeom>
              <a:blipFill>
                <a:blip r:embed="rId4"/>
                <a:stretch>
                  <a:fillRect l="-1683" t="-1961" r="-168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15D7B7F6-157A-0142-F392-B4B34E7461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78228" cy="77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40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E8EB184-E7ED-1F7F-3B69-2B11375988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946400" cy="7444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A2CDD3B-CFCD-B815-22CA-3B0D71495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446" y="2652125"/>
            <a:ext cx="6165114" cy="1333616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14E24383-42A2-5D31-B06F-3620A5F1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96" y="1112935"/>
            <a:ext cx="9451428" cy="696420"/>
          </a:xfrm>
        </p:spPr>
        <p:txBody>
          <a:bodyPr>
            <a:normAutofit/>
          </a:bodyPr>
          <a:lstStyle/>
          <a:p>
            <a:r>
              <a:rPr lang="zh-CN" altLang="en-US" sz="3200" b="1">
                <a:solidFill>
                  <a:srgbClr val="26558C"/>
                </a:solidFill>
                <a:latin typeface="Microsoft YaHei" panose="020B0503020204020204" pitchFamily="34" charset="-122"/>
                <a:ea typeface="+mn-ea"/>
                <a:cs typeface="+mn-cs"/>
              </a:rPr>
              <a:t>通道注意力机制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222367-8676-F55F-907F-7659B6C41ED7}"/>
              </a:ext>
            </a:extLst>
          </p:cNvPr>
          <p:cNvSpPr txBox="1"/>
          <p:nvPr/>
        </p:nvSpPr>
        <p:spPr>
          <a:xfrm>
            <a:off x="855132" y="5080970"/>
            <a:ext cx="9451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>
                <a:effectLst/>
                <a:latin typeface="Arial" panose="020B0604020202020204" pitchFamily="34" charset="0"/>
              </a:rPr>
              <a:t>通道注意力机制（Channel Attention Mechanism, CAM）是一种在深度学习中广泛应用的特征增强方法，它通过</a:t>
            </a:r>
            <a:r>
              <a:rPr lang="zh-CN" altLang="zh-CN" b="1" i="0">
                <a:effectLst/>
                <a:latin typeface="Arial" panose="020B0604020202020204" pitchFamily="34" charset="0"/>
              </a:rPr>
              <a:t>学习不同通道的重要性权重</a:t>
            </a:r>
            <a:r>
              <a:rPr lang="zh-CN" altLang="zh-CN" b="0" i="0">
                <a:effectLst/>
                <a:latin typeface="Arial" panose="020B0604020202020204" pitchFamily="34" charset="0"/>
              </a:rPr>
              <a:t>，让模型更加关注对任务有贡献的特征通道，从而提升性能。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8E5A24F-58D7-6BC3-8E77-D5566ADBBA66}"/>
                  </a:ext>
                </a:extLst>
              </p:cNvPr>
              <p:cNvSpPr txBox="1"/>
              <p:nvPr/>
            </p:nvSpPr>
            <p:spPr>
              <a:xfrm>
                <a:off x="6460067" y="263560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vg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))))</m:t>
                      </m:r>
                    </m:oMath>
                  </m:oMathPara>
                </a14:m>
                <a:endParaRPr lang="zh-CN" altLang="en-US" sz="180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8E5A24F-58D7-6BC3-8E77-D5566ADBB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067" y="2635605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83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2F682C6-10F9-3951-1CA4-95482469C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15559" cy="91353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AE54E73-9547-3832-4177-FA2AF09ABA20}"/>
              </a:ext>
            </a:extLst>
          </p:cNvPr>
          <p:cNvSpPr txBox="1"/>
          <p:nvPr/>
        </p:nvSpPr>
        <p:spPr>
          <a:xfrm>
            <a:off x="481723" y="989604"/>
            <a:ext cx="965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注意力机制实验结果对比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D513205-A8A0-2A81-6D6D-5254E81BE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540376"/>
              </p:ext>
            </p:extLst>
          </p:nvPr>
        </p:nvGraphicFramePr>
        <p:xfrm>
          <a:off x="481723" y="1926394"/>
          <a:ext cx="482600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832">
                  <a:extLst>
                    <a:ext uri="{9D8B030D-6E8A-4147-A177-3AD203B41FA5}">
                      <a16:colId xmlns:a16="http://schemas.microsoft.com/office/drawing/2014/main" val="1125913454"/>
                    </a:ext>
                  </a:extLst>
                </a:gridCol>
                <a:gridCol w="1192326">
                  <a:extLst>
                    <a:ext uri="{9D8B030D-6E8A-4147-A177-3AD203B41FA5}">
                      <a16:colId xmlns:a16="http://schemas.microsoft.com/office/drawing/2014/main" val="3972815289"/>
                    </a:ext>
                  </a:extLst>
                </a:gridCol>
                <a:gridCol w="1025836">
                  <a:extLst>
                    <a:ext uri="{9D8B030D-6E8A-4147-A177-3AD203B41FA5}">
                      <a16:colId xmlns:a16="http://schemas.microsoft.com/office/drawing/2014/main" val="2968329203"/>
                    </a:ext>
                  </a:extLst>
                </a:gridCol>
                <a:gridCol w="1199007">
                  <a:extLst>
                    <a:ext uri="{9D8B030D-6E8A-4147-A177-3AD203B41FA5}">
                      <a16:colId xmlns:a16="http://schemas.microsoft.com/office/drawing/2014/main" val="329246000"/>
                    </a:ext>
                  </a:extLst>
                </a:gridCol>
              </a:tblGrid>
              <a:tr h="2947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注意力机制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训练损失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测试准确率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64531"/>
                  </a:ext>
                </a:extLst>
              </a:tr>
              <a:tr h="2947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无注意力机制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0.80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0.596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0.80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38345"/>
                  </a:ext>
                </a:extLst>
              </a:tr>
              <a:tr h="2947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仅通道注意力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0.89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0.323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377832"/>
                          </a:solidFill>
                          <a:latin typeface="Microsoft YaHei" panose="020B0503020204020204" pitchFamily="34" charset="-122"/>
                        </a:rPr>
                        <a:t>0.87</a:t>
                      </a:r>
                      <a:endParaRPr lang="zh-CN" altLang="en-US" sz="1500" b="1">
                        <a:solidFill>
                          <a:srgbClr val="377832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564018"/>
                  </a:ext>
                </a:extLst>
              </a:tr>
              <a:tr h="2947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仅空间注意力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0.90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0.299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377832"/>
                          </a:solidFill>
                          <a:latin typeface="Microsoft YaHei" panose="020B0503020204020204" pitchFamily="34" charset="-122"/>
                        </a:rPr>
                        <a:t>0.87</a:t>
                      </a:r>
                      <a:endParaRPr lang="zh-CN" altLang="en-US" sz="1500" b="1">
                        <a:solidFill>
                          <a:srgbClr val="377832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37616"/>
                  </a:ext>
                </a:extLst>
              </a:tr>
              <a:tr h="5052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通道注意力 </a:t>
                      </a:r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+ </a:t>
                      </a:r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空间注意力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0.89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0.332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0.85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68520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6175B4E-F302-56F3-99A4-90FBF8AB0F1A}"/>
              </a:ext>
            </a:extLst>
          </p:cNvPr>
          <p:cNvSpPr txBox="1"/>
          <p:nvPr/>
        </p:nvSpPr>
        <p:spPr>
          <a:xfrm>
            <a:off x="1019326" y="1631603"/>
            <a:ext cx="4288397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表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：采用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AlexNet</a:t>
            </a:r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预训练模型，数据集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CIFAR10</a:t>
            </a:r>
            <a:endParaRPr lang="zh-CN" altLang="en-US" sz="1100">
              <a:solidFill>
                <a:srgbClr val="414141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9B075F1-490A-B80F-BC96-296DEC44D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639629"/>
              </p:ext>
            </p:extLst>
          </p:nvPr>
        </p:nvGraphicFramePr>
        <p:xfrm>
          <a:off x="6394672" y="4214739"/>
          <a:ext cx="5147088" cy="186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566">
                  <a:extLst>
                    <a:ext uri="{9D8B030D-6E8A-4147-A177-3AD203B41FA5}">
                      <a16:colId xmlns:a16="http://schemas.microsoft.com/office/drawing/2014/main" val="1125913454"/>
                    </a:ext>
                  </a:extLst>
                </a:gridCol>
                <a:gridCol w="1271654">
                  <a:extLst>
                    <a:ext uri="{9D8B030D-6E8A-4147-A177-3AD203B41FA5}">
                      <a16:colId xmlns:a16="http://schemas.microsoft.com/office/drawing/2014/main" val="3972815289"/>
                    </a:ext>
                  </a:extLst>
                </a:gridCol>
                <a:gridCol w="1094088">
                  <a:extLst>
                    <a:ext uri="{9D8B030D-6E8A-4147-A177-3AD203B41FA5}">
                      <a16:colId xmlns:a16="http://schemas.microsoft.com/office/drawing/2014/main" val="2968329203"/>
                    </a:ext>
                  </a:extLst>
                </a:gridCol>
                <a:gridCol w="1278780">
                  <a:extLst>
                    <a:ext uri="{9D8B030D-6E8A-4147-A177-3AD203B41FA5}">
                      <a16:colId xmlns:a16="http://schemas.microsoft.com/office/drawing/2014/main" val="329246000"/>
                    </a:ext>
                  </a:extLst>
                </a:gridCol>
              </a:tblGrid>
              <a:tr h="3284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注意力机制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训练损失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测试准确率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64531"/>
                  </a:ext>
                </a:extLst>
              </a:tr>
              <a:tr h="3284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无注意力机制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0.98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0.061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0.93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38345"/>
                  </a:ext>
                </a:extLst>
              </a:tr>
              <a:tr h="3284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仅通道注意力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0.98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0.044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kern="12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0.89</a:t>
                      </a:r>
                      <a:endParaRPr lang="zh-CN" altLang="en-US" sz="1500" kern="12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564018"/>
                  </a:ext>
                </a:extLst>
              </a:tr>
              <a:tr h="3284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仅空间注意力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0.98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0.026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1" kern="1200">
                          <a:solidFill>
                            <a:srgbClr val="377832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0.98</a:t>
                      </a:r>
                      <a:endParaRPr lang="zh-CN" altLang="en-US" sz="1500" b="1" kern="1200">
                        <a:solidFill>
                          <a:srgbClr val="377832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37616"/>
                  </a:ext>
                </a:extLst>
              </a:tr>
              <a:tr h="3704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通道注意力 </a:t>
                      </a:r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+ </a:t>
                      </a:r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空间注意力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0.019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1" kern="1200">
                          <a:solidFill>
                            <a:srgbClr val="377832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0.99</a:t>
                      </a:r>
                      <a:endParaRPr lang="zh-CN" altLang="en-US" sz="1500" b="1" kern="1200">
                        <a:solidFill>
                          <a:srgbClr val="377832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685208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B158500-30CC-41AB-2128-7DE06B15527A}"/>
              </a:ext>
            </a:extLst>
          </p:cNvPr>
          <p:cNvSpPr txBox="1"/>
          <p:nvPr/>
        </p:nvSpPr>
        <p:spPr>
          <a:xfrm>
            <a:off x="7400683" y="3953129"/>
            <a:ext cx="4288397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表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4</a:t>
            </a:r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：采用典型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ResNet18</a:t>
            </a:r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预训练模型，数据集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Rafd90</a:t>
            </a:r>
            <a:endParaRPr lang="zh-CN" altLang="en-US" sz="1100">
              <a:solidFill>
                <a:srgbClr val="414141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435A6EC-47AC-3158-6A08-7FA3CD591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590648"/>
              </p:ext>
            </p:extLst>
          </p:nvPr>
        </p:nvGraphicFramePr>
        <p:xfrm>
          <a:off x="481723" y="4240491"/>
          <a:ext cx="4826001" cy="1833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832">
                  <a:extLst>
                    <a:ext uri="{9D8B030D-6E8A-4147-A177-3AD203B41FA5}">
                      <a16:colId xmlns:a16="http://schemas.microsoft.com/office/drawing/2014/main" val="1125913454"/>
                    </a:ext>
                  </a:extLst>
                </a:gridCol>
                <a:gridCol w="1192326">
                  <a:extLst>
                    <a:ext uri="{9D8B030D-6E8A-4147-A177-3AD203B41FA5}">
                      <a16:colId xmlns:a16="http://schemas.microsoft.com/office/drawing/2014/main" val="3972815289"/>
                    </a:ext>
                  </a:extLst>
                </a:gridCol>
                <a:gridCol w="1025836">
                  <a:extLst>
                    <a:ext uri="{9D8B030D-6E8A-4147-A177-3AD203B41FA5}">
                      <a16:colId xmlns:a16="http://schemas.microsoft.com/office/drawing/2014/main" val="2968329203"/>
                    </a:ext>
                  </a:extLst>
                </a:gridCol>
                <a:gridCol w="1199007">
                  <a:extLst>
                    <a:ext uri="{9D8B030D-6E8A-4147-A177-3AD203B41FA5}">
                      <a16:colId xmlns:a16="http://schemas.microsoft.com/office/drawing/2014/main" val="329246000"/>
                    </a:ext>
                  </a:extLst>
                </a:gridCol>
              </a:tblGrid>
              <a:tr h="2763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注意力机制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训练损失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测试准确率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64531"/>
                  </a:ext>
                </a:extLst>
              </a:tr>
              <a:tr h="325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无注意力机制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0.98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0.075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kern="12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0.92</a:t>
                      </a:r>
                      <a:endParaRPr lang="zh-CN" altLang="en-US" sz="1500" kern="12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38345"/>
                  </a:ext>
                </a:extLst>
              </a:tr>
              <a:tr h="2763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仅通道注意力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0.97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0.089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kern="12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0.90</a:t>
                      </a:r>
                      <a:endParaRPr lang="zh-CN" altLang="en-US" sz="1500" kern="12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564018"/>
                  </a:ext>
                </a:extLst>
              </a:tr>
              <a:tr h="2763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仅空间注意力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0.96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0.124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1" kern="1200">
                          <a:solidFill>
                            <a:srgbClr val="377832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0.94</a:t>
                      </a:r>
                      <a:endParaRPr lang="zh-CN" altLang="en-US" sz="1500" b="1" kern="1200">
                        <a:solidFill>
                          <a:srgbClr val="377832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FEC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37616"/>
                  </a:ext>
                </a:extLst>
              </a:tr>
              <a:tr h="3532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通道注意力 </a:t>
                      </a:r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+ </a:t>
                      </a:r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空间注意力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0.97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0.079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1" kern="1200">
                          <a:solidFill>
                            <a:srgbClr val="377832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0.96</a:t>
                      </a:r>
                      <a:endParaRPr lang="zh-CN" altLang="en-US" sz="1500" b="1" kern="1200">
                        <a:solidFill>
                          <a:srgbClr val="377832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FEC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68520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6A5968C-A9EC-298D-0A16-7DD41439977A}"/>
              </a:ext>
            </a:extLst>
          </p:cNvPr>
          <p:cNvSpPr txBox="1"/>
          <p:nvPr/>
        </p:nvSpPr>
        <p:spPr>
          <a:xfrm>
            <a:off x="1019325" y="3953129"/>
            <a:ext cx="4288397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表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：采用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AlexNet</a:t>
            </a:r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预训练模型，数据集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Rafd90</a:t>
            </a:r>
            <a:endParaRPr lang="zh-CN" altLang="en-US" sz="1100">
              <a:solidFill>
                <a:srgbClr val="414141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8C05B5E-6BFB-67F2-860F-F972BF24D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883543"/>
              </p:ext>
            </p:extLst>
          </p:nvPr>
        </p:nvGraphicFramePr>
        <p:xfrm>
          <a:off x="6394672" y="1892618"/>
          <a:ext cx="5147088" cy="186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566">
                  <a:extLst>
                    <a:ext uri="{9D8B030D-6E8A-4147-A177-3AD203B41FA5}">
                      <a16:colId xmlns:a16="http://schemas.microsoft.com/office/drawing/2014/main" val="1125913454"/>
                    </a:ext>
                  </a:extLst>
                </a:gridCol>
                <a:gridCol w="1271654">
                  <a:extLst>
                    <a:ext uri="{9D8B030D-6E8A-4147-A177-3AD203B41FA5}">
                      <a16:colId xmlns:a16="http://schemas.microsoft.com/office/drawing/2014/main" val="3972815289"/>
                    </a:ext>
                  </a:extLst>
                </a:gridCol>
                <a:gridCol w="1094088">
                  <a:extLst>
                    <a:ext uri="{9D8B030D-6E8A-4147-A177-3AD203B41FA5}">
                      <a16:colId xmlns:a16="http://schemas.microsoft.com/office/drawing/2014/main" val="2968329203"/>
                    </a:ext>
                  </a:extLst>
                </a:gridCol>
                <a:gridCol w="1278780">
                  <a:extLst>
                    <a:ext uri="{9D8B030D-6E8A-4147-A177-3AD203B41FA5}">
                      <a16:colId xmlns:a16="http://schemas.microsoft.com/office/drawing/2014/main" val="329246000"/>
                    </a:ext>
                  </a:extLst>
                </a:gridCol>
              </a:tblGrid>
              <a:tr h="3284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注意力机制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训练损失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测试准确率</a:t>
                      </a:r>
                    </a:p>
                  </a:txBody>
                  <a:tcPr anchor="ctr"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64531"/>
                  </a:ext>
                </a:extLst>
              </a:tr>
              <a:tr h="3284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无注意力机制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0.023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0.95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38345"/>
                  </a:ext>
                </a:extLst>
              </a:tr>
              <a:tr h="3284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仅通道注意力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0.99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0.034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kern="12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0.97</a:t>
                      </a:r>
                      <a:endParaRPr lang="zh-CN" altLang="en-US" sz="1500" kern="12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564018"/>
                  </a:ext>
                </a:extLst>
              </a:tr>
              <a:tr h="3284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仅空间注意力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0.022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kern="12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0.95</a:t>
                      </a:r>
                      <a:endParaRPr lang="zh-CN" altLang="en-US" sz="1500" kern="12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37616"/>
                  </a:ext>
                </a:extLst>
              </a:tr>
              <a:tr h="4939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通道注意力 </a:t>
                      </a:r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+ </a:t>
                      </a:r>
                      <a:r>
                        <a:rPr lang="zh-CN" altLang="en-US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空间注意力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>
                          <a:solidFill>
                            <a:srgbClr val="232323"/>
                          </a:solidFill>
                          <a:latin typeface="Microsoft YaHei" panose="020B0503020204020204" pitchFamily="34" charset="-122"/>
                        </a:rPr>
                        <a:t>0.017</a:t>
                      </a:r>
                      <a:endParaRPr lang="zh-CN" altLang="en-US" sz="1500">
                        <a:solidFill>
                          <a:srgbClr val="23232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1" kern="1200">
                          <a:solidFill>
                            <a:srgbClr val="377832"/>
                          </a:solidFill>
                          <a:latin typeface="Microsoft YaHei" panose="020B0503020204020204" pitchFamily="34" charset="-122"/>
                          <a:ea typeface="+mn-ea"/>
                          <a:cs typeface="+mn-cs"/>
                        </a:rPr>
                        <a:t>0.98</a:t>
                      </a:r>
                      <a:endParaRPr lang="zh-CN" altLang="en-US" sz="1500" b="1" kern="1200">
                        <a:solidFill>
                          <a:srgbClr val="377832"/>
                        </a:solidFill>
                        <a:latin typeface="Microsoft YaHei" panose="020B0503020204020204" pitchFamily="34" charset="-12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685208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453A1CB-CEB9-6555-94A8-E4C8695BBE9D}"/>
              </a:ext>
            </a:extLst>
          </p:cNvPr>
          <p:cNvSpPr txBox="1"/>
          <p:nvPr/>
        </p:nvSpPr>
        <p:spPr>
          <a:xfrm>
            <a:off x="7400682" y="1645998"/>
            <a:ext cx="4288397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表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：采用典型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ResNet18</a:t>
            </a:r>
            <a:r>
              <a:rPr lang="zh-CN" altLang="en-US" sz="1100">
                <a:solidFill>
                  <a:srgbClr val="414141"/>
                </a:solidFill>
                <a:latin typeface="Microsoft YaHei" panose="020B0503020204020204" pitchFamily="34" charset="-122"/>
              </a:rPr>
              <a:t>预训练模型，数据集</a:t>
            </a:r>
            <a:r>
              <a:rPr lang="en-US" altLang="zh-CN" sz="1100">
                <a:solidFill>
                  <a:srgbClr val="414141"/>
                </a:solidFill>
                <a:latin typeface="Microsoft YaHei" panose="020B0503020204020204" pitchFamily="34" charset="-122"/>
              </a:rPr>
              <a:t>CIFAR10</a:t>
            </a:r>
            <a:endParaRPr lang="zh-CN" altLang="en-US" sz="1100">
              <a:solidFill>
                <a:srgbClr val="41414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110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0166692-CD36-B0F7-1499-F014CE1340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78228" cy="77776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C7EFD193-FF98-571B-D5AB-E390CB1F7EC2}"/>
              </a:ext>
            </a:extLst>
          </p:cNvPr>
          <p:cNvSpPr/>
          <p:nvPr/>
        </p:nvSpPr>
        <p:spPr>
          <a:xfrm>
            <a:off x="492979" y="1183377"/>
            <a:ext cx="10175021" cy="81280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77800" rIns="177800" rtlCol="0" anchor="ctr"/>
          <a:lstStyle/>
          <a:p>
            <a:r>
              <a:rPr lang="zh-CN" altLang="en-US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问题：在</a:t>
            </a:r>
            <a:r>
              <a:rPr lang="en-US" altLang="zh-CN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AlexNet</a:t>
            </a:r>
            <a:r>
              <a:rPr lang="zh-CN" altLang="en-US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和</a:t>
            </a:r>
            <a:r>
              <a:rPr lang="en-US" altLang="zh-CN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ResNet18</a:t>
            </a:r>
            <a:r>
              <a:rPr lang="zh-CN" altLang="en-US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模型测试中，</a:t>
            </a:r>
            <a:r>
              <a:rPr lang="zh-CN" altLang="zh-CN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仅通道注意力效果低于无注意力机制</a:t>
            </a:r>
            <a:r>
              <a:rPr lang="zh-CN" altLang="en-US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加入注意力机制后不一定会有效果，主要是因为什么原因？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03C1B3-184D-F72B-23E3-1D603EBD0894}"/>
              </a:ext>
            </a:extLst>
          </p:cNvPr>
          <p:cNvSpPr txBox="1"/>
          <p:nvPr/>
        </p:nvSpPr>
        <p:spPr>
          <a:xfrm>
            <a:off x="716280" y="2597956"/>
            <a:ext cx="9951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>
                <a:solidFill>
                  <a:srgbClr val="1A1C1F"/>
                </a:solidFill>
                <a:effectLst/>
                <a:latin typeface="-apple-system"/>
              </a:rPr>
              <a:t>分析：</a:t>
            </a:r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通道注意力关注的是“哪些通道更重要”</a:t>
            </a:r>
            <a:r>
              <a:rPr lang="zh-CN" altLang="en-US" b="0" i="0">
                <a:solidFill>
                  <a:srgbClr val="1A1C1F"/>
                </a:solidFill>
                <a:effectLst/>
                <a:latin typeface="-apple-system"/>
              </a:rPr>
              <a:t>，</a:t>
            </a:r>
            <a:r>
              <a:rPr lang="zh-CN" altLang="zh-CN"/>
              <a:t>对特征图的某个通道整体放大或抑制。它不关心空间位置</a:t>
            </a:r>
            <a:r>
              <a:rPr lang="zh-CN" altLang="en-US"/>
              <a:t>，</a:t>
            </a:r>
            <a:r>
              <a:rPr lang="zh-CN" altLang="zh-CN"/>
              <a:t>对于表情分类来说，很多判别信息是局部空间区域，比如嘴角上扬、眉头皱起、眼部变化。仅通道注意力可能放大了某些整体纹理通道，但没有精准定位表情区域</a:t>
            </a:r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60F9386-B1AF-1682-0795-AF1148D777F0}"/>
              </a:ext>
            </a:extLst>
          </p:cNvPr>
          <p:cNvSpPr/>
          <p:nvPr/>
        </p:nvSpPr>
        <p:spPr>
          <a:xfrm>
            <a:off x="556260" y="4282052"/>
            <a:ext cx="10271760" cy="115954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5973D0-9AAD-7AB4-6449-F3513C4725F3}"/>
              </a:ext>
            </a:extLst>
          </p:cNvPr>
          <p:cNvSpPr txBox="1"/>
          <p:nvPr/>
        </p:nvSpPr>
        <p:spPr>
          <a:xfrm>
            <a:off x="716280" y="4492492"/>
            <a:ext cx="9662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>
                <a:solidFill>
                  <a:srgbClr val="1A1C1F"/>
                </a:solidFill>
                <a:effectLst/>
                <a:latin typeface="-apple-system"/>
              </a:rPr>
              <a:t>结论：</a:t>
            </a:r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仅通道注意力的测试效果低于无注意力机制，说明注意力机制并非一定提升模型性能。</a:t>
            </a:r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D43EE4-FB48-D495-7198-B6A30BC3E80C}"/>
              </a:ext>
            </a:extLst>
          </p:cNvPr>
          <p:cNvSpPr txBox="1"/>
          <p:nvPr/>
        </p:nvSpPr>
        <p:spPr>
          <a:xfrm>
            <a:off x="1432434" y="5026075"/>
            <a:ext cx="922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相比之下，空间注意力能够强调图像中的关键区域，所以在该实验中表现更好。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73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7B683D6-1932-DBBB-B311-21C8C6CC2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2331720" cy="58914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FCCD015-BC7F-1451-EB15-924AFB66DCF1}"/>
              </a:ext>
            </a:extLst>
          </p:cNvPr>
          <p:cNvSpPr txBox="1"/>
          <p:nvPr/>
        </p:nvSpPr>
        <p:spPr>
          <a:xfrm>
            <a:off x="482600" y="791428"/>
            <a:ext cx="9906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AlexNet</a:t>
            </a:r>
            <a:r>
              <a:rPr lang="zh-CN" altLang="en-US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注意力可视化对比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4F2CD4-1E0D-BE57-6729-2B766B275FF4}"/>
              </a:ext>
            </a:extLst>
          </p:cNvPr>
          <p:cNvSpPr txBox="1"/>
          <p:nvPr/>
        </p:nvSpPr>
        <p:spPr>
          <a:xfrm>
            <a:off x="863600" y="1714500"/>
            <a:ext cx="4572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D2D2D"/>
                </a:solidFill>
                <a:latin typeface="Microsoft YaHei" panose="020B0503020204020204" pitchFamily="34" charset="-122"/>
              </a:rPr>
              <a:t>浅层注意力图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934CCB-AF1A-B9E8-EFC8-98A3ACB0D60B}"/>
              </a:ext>
            </a:extLst>
          </p:cNvPr>
          <p:cNvSpPr txBox="1"/>
          <p:nvPr/>
        </p:nvSpPr>
        <p:spPr>
          <a:xfrm>
            <a:off x="6756400" y="1714500"/>
            <a:ext cx="4572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D2D2D"/>
                </a:solidFill>
                <a:latin typeface="Microsoft YaHei" panose="020B0503020204020204" pitchFamily="34" charset="-122"/>
              </a:rPr>
              <a:t>深层注意力图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D58A756-7B0F-66A4-E401-9CE7A955A18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2095500"/>
            <a:ext cx="5207000" cy="2921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E152292-8F22-EF57-5708-7E5CC2FAEB8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095500"/>
            <a:ext cx="5207000" cy="292100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9289B6A-45DA-81C4-55D2-33E9AE287567}"/>
              </a:ext>
            </a:extLst>
          </p:cNvPr>
          <p:cNvSpPr/>
          <p:nvPr/>
        </p:nvSpPr>
        <p:spPr>
          <a:xfrm>
            <a:off x="711200" y="5154930"/>
            <a:ext cx="10617200" cy="99060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52400" rIns="152400" rtlCol="0" anchor="ctr"/>
          <a:lstStyle/>
          <a:p>
            <a:r>
              <a:rPr lang="zh-CN" altLang="en-US" sz="1600">
                <a:solidFill>
                  <a:srgbClr val="2D2D2D"/>
                </a:solidFill>
                <a:latin typeface="Microsoft YaHei" panose="020B0503020204020204" pitchFamily="34" charset="-122"/>
              </a:rPr>
              <a:t>分析：浅层仍保留较多空间细节，注意力响应更分散，能看到局部纹理和边缘变化；最后层经过多次下采样，特征图空间尺寸较小，插值 放大后只显示粗略关注范围。注意力图表示特征权重，不等同于目标分割图，因此红色区域不一定完全覆盖目标物体。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DD5520-9E25-7FE8-66B4-E7B994DD124C}"/>
              </a:ext>
            </a:extLst>
          </p:cNvPr>
          <p:cNvSpPr txBox="1"/>
          <p:nvPr/>
        </p:nvSpPr>
        <p:spPr>
          <a:xfrm>
            <a:off x="228600" y="628396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400">
                <a:solidFill>
                  <a:srgbClr val="5A5A5A"/>
                </a:solidFill>
                <a:latin typeface="Microsoft YaHei" panose="020B0503020204020204" pitchFamily="34" charset="-122"/>
              </a:rPr>
              <a:t>结论：可视化可以辅助理解注意力位置与通道权重，但模型效果仍需结合测试准确率、损失和多样本结果综合判断。</a:t>
            </a:r>
          </a:p>
        </p:txBody>
      </p:sp>
    </p:spTree>
    <p:extLst>
      <p:ext uri="{BB962C8B-B14F-4D97-AF65-F5344CB8AC3E}">
        <p14:creationId xmlns:p14="http://schemas.microsoft.com/office/powerpoint/2010/main" val="3553856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3E56CEE-2C0D-4884-17EC-A2E2B5689BF2}"/>
              </a:ext>
            </a:extLst>
          </p:cNvPr>
          <p:cNvSpPr txBox="1"/>
          <p:nvPr/>
        </p:nvSpPr>
        <p:spPr>
          <a:xfrm>
            <a:off x="482600" y="791428"/>
            <a:ext cx="9906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ResNet18</a:t>
            </a:r>
            <a:r>
              <a:rPr lang="zh-CN" altLang="en-US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注意力可视化对比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25CD4E-00A6-3F89-E5F2-9A548A940E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2331720" cy="5891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48741B2-5D11-260B-0B60-808F9C91D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95" y="1556592"/>
            <a:ext cx="7083207" cy="349087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35D90E1-74B7-5342-9EE5-03EDE32BBCC9}"/>
              </a:ext>
            </a:extLst>
          </p:cNvPr>
          <p:cNvSpPr txBox="1"/>
          <p:nvPr/>
        </p:nvSpPr>
        <p:spPr>
          <a:xfrm>
            <a:off x="7548880" y="1173220"/>
            <a:ext cx="37998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中间是</a:t>
            </a:r>
            <a:r>
              <a:rPr lang="zh-CN" altLang="zh-CN" b="1" i="0">
                <a:solidFill>
                  <a:srgbClr val="1A1C1F"/>
                </a:solidFill>
                <a:effectLst/>
                <a:latin typeface="-apple-system"/>
              </a:rPr>
              <a:t>空间注意力图</a:t>
            </a:r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。颜色越偏红，表示该区域在当前注意力模块中权重越高；颜色越偏蓝，表示权重较低。</a:t>
            </a:r>
            <a:r>
              <a:rPr lang="zh-CN" altLang="zh-CN"/>
              <a:t>红色区域大多集中在脸部中间区域附近</a:t>
            </a:r>
            <a:r>
              <a:rPr lang="zh-CN" altLang="en-US"/>
              <a:t>，</a:t>
            </a:r>
            <a:r>
              <a:rPr lang="zh-CN" altLang="zh-CN"/>
              <a:t>而不是完全平均分布在整张图上。这说明空间注意力确实在尝试强调表情相关区域。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B21556-E6CB-33FE-7651-33A67F71F087}"/>
              </a:ext>
            </a:extLst>
          </p:cNvPr>
          <p:cNvSpPr txBox="1"/>
          <p:nvPr/>
        </p:nvSpPr>
        <p:spPr>
          <a:xfrm>
            <a:off x="7640320" y="3429000"/>
            <a:ext cx="33883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右侧是</a:t>
            </a:r>
            <a:r>
              <a:rPr lang="zh-CN" altLang="zh-CN" b="1" i="0">
                <a:solidFill>
                  <a:srgbClr val="1A1C1F"/>
                </a:solidFill>
                <a:effectLst/>
                <a:latin typeface="-apple-system"/>
              </a:rPr>
              <a:t>通道注意力图</a:t>
            </a:r>
            <a:r>
              <a:rPr lang="zh-CN" altLang="en-US" b="1" i="0">
                <a:solidFill>
                  <a:srgbClr val="1A1C1F"/>
                </a:solidFill>
                <a:effectLst/>
                <a:latin typeface="-apple-system"/>
              </a:rPr>
              <a:t>，</a:t>
            </a:r>
            <a:r>
              <a:rPr lang="zh-CN" altLang="zh-CN"/>
              <a:t>可以看到不同通道的权重并不相同，大部分集中在 0.4~0.7 左右，说明模型并不是简单地平均使用所有特征通道，而是在增强部分通道、抑制部分通道。</a:t>
            </a:r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2C4B18-C4F3-3819-6856-4F82C2889461}"/>
              </a:ext>
            </a:extLst>
          </p:cNvPr>
          <p:cNvSpPr txBox="1"/>
          <p:nvPr/>
        </p:nvSpPr>
        <p:spPr>
          <a:xfrm>
            <a:off x="370840" y="5794859"/>
            <a:ext cx="11069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        </a:t>
            </a:r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该注意力可视化结果表明，加入注意力机制后，模型能够在空间维度上对脸部关键区域赋予较高权重，并在通道维度上选择性增强部分特征通道。</a:t>
            </a:r>
            <a:r>
              <a:rPr lang="zh-CN" altLang="zh-CN"/>
              <a:t>从预测结果看，模型对 angry、fearful、sad 三类样本均预测正确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12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9CD5A9D-F43C-D648-DBB5-41B5DCE4CC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2331720" cy="5891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4006FDD-EAA7-06D1-BF94-5A45FC4809A4}"/>
              </a:ext>
            </a:extLst>
          </p:cNvPr>
          <p:cNvSpPr txBox="1"/>
          <p:nvPr/>
        </p:nvSpPr>
        <p:spPr>
          <a:xfrm>
            <a:off x="-447040" y="760948"/>
            <a:ext cx="523748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	Transformer</a:t>
            </a:r>
            <a:r>
              <a:rPr lang="zh-CN" altLang="en-US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架构浅解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6E2406-6A1D-17D3-04BE-8A3A9469EA47}"/>
              </a:ext>
            </a:extLst>
          </p:cNvPr>
          <p:cNvSpPr txBox="1"/>
          <p:nvPr/>
        </p:nvSpPr>
        <p:spPr>
          <a:xfrm>
            <a:off x="939800" y="1786353"/>
            <a:ext cx="367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        </a:t>
            </a:r>
            <a:r>
              <a:rPr lang="zh-CN" altLang="en-US">
                <a:solidFill>
                  <a:srgbClr val="1A1C1F"/>
                </a:solidFill>
                <a:latin typeface="-apple-system"/>
              </a:rPr>
              <a:t>“</a:t>
            </a:r>
            <a:r>
              <a:rPr lang="en-US" altLang="zh-CN">
                <a:solidFill>
                  <a:srgbClr val="1A1C1F"/>
                </a:solidFill>
                <a:latin typeface="-apple-system"/>
              </a:rPr>
              <a:t>hello world</a:t>
            </a:r>
            <a:r>
              <a:rPr lang="zh-CN" altLang="en-US">
                <a:solidFill>
                  <a:srgbClr val="1A1C1F"/>
                </a:solidFill>
                <a:latin typeface="-apple-system"/>
              </a:rPr>
              <a:t>”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181375-8DB4-7485-05EE-19C9DDAF2FA2}"/>
              </a:ext>
            </a:extLst>
          </p:cNvPr>
          <p:cNvSpPr txBox="1"/>
          <p:nvPr/>
        </p:nvSpPr>
        <p:spPr>
          <a:xfrm>
            <a:off x="599440" y="2553454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hello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B03119-072D-E00F-9684-2815AA36FF67}"/>
              </a:ext>
            </a:extLst>
          </p:cNvPr>
          <p:cNvSpPr txBox="1"/>
          <p:nvPr/>
        </p:nvSpPr>
        <p:spPr>
          <a:xfrm>
            <a:off x="500381" y="4161294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World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EA539E6-2F4C-14E4-E567-7C381D2F0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88580"/>
              </p:ext>
            </p:extLst>
          </p:nvPr>
        </p:nvGraphicFramePr>
        <p:xfrm>
          <a:off x="1384301" y="2551946"/>
          <a:ext cx="1584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">
                  <a:extLst>
                    <a:ext uri="{9D8B030D-6E8A-4147-A177-3AD203B41FA5}">
                      <a16:colId xmlns:a16="http://schemas.microsoft.com/office/drawing/2014/main" val="2334367204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52224047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1055459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3977005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27379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2AEEA11-F0EA-AA22-90AD-7BD43D11D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65301"/>
              </p:ext>
            </p:extLst>
          </p:nvPr>
        </p:nvGraphicFramePr>
        <p:xfrm>
          <a:off x="1379220" y="3171200"/>
          <a:ext cx="1584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">
                  <a:extLst>
                    <a:ext uri="{9D8B030D-6E8A-4147-A177-3AD203B41FA5}">
                      <a16:colId xmlns:a16="http://schemas.microsoft.com/office/drawing/2014/main" val="2334367204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52224047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1055459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3977005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273795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FAF94415-F5F3-38DF-1997-059FCB2BD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948041"/>
              </p:ext>
            </p:extLst>
          </p:nvPr>
        </p:nvGraphicFramePr>
        <p:xfrm>
          <a:off x="1379220" y="4121279"/>
          <a:ext cx="1584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">
                  <a:extLst>
                    <a:ext uri="{9D8B030D-6E8A-4147-A177-3AD203B41FA5}">
                      <a16:colId xmlns:a16="http://schemas.microsoft.com/office/drawing/2014/main" val="2334367204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52224047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1055459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3977005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273795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C61D802-1B2C-B3B7-9E3B-9008266FB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705780"/>
              </p:ext>
            </p:extLst>
          </p:nvPr>
        </p:nvGraphicFramePr>
        <p:xfrm>
          <a:off x="1379220" y="4702315"/>
          <a:ext cx="1584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">
                  <a:extLst>
                    <a:ext uri="{9D8B030D-6E8A-4147-A177-3AD203B41FA5}">
                      <a16:colId xmlns:a16="http://schemas.microsoft.com/office/drawing/2014/main" val="2334367204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52224047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1055459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3977005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C8E5B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C8E5B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C8E5B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C8E5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273795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6F684306-33FE-5327-0284-15E3D8FC101E}"/>
              </a:ext>
            </a:extLst>
          </p:cNvPr>
          <p:cNvSpPr txBox="1"/>
          <p:nvPr/>
        </p:nvSpPr>
        <p:spPr>
          <a:xfrm>
            <a:off x="2006601" y="2843218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+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A1D7A9-06DA-D3AD-86E1-6B624C2A221B}"/>
              </a:ext>
            </a:extLst>
          </p:cNvPr>
          <p:cNvSpPr txBox="1"/>
          <p:nvPr/>
        </p:nvSpPr>
        <p:spPr>
          <a:xfrm>
            <a:off x="2006601" y="4386804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+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783CE91-C227-305C-D9CC-70568B0C0054}"/>
              </a:ext>
            </a:extLst>
          </p:cNvPr>
          <p:cNvSpPr txBox="1"/>
          <p:nvPr/>
        </p:nvSpPr>
        <p:spPr>
          <a:xfrm>
            <a:off x="312421" y="3152700"/>
            <a:ext cx="1259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1A1C1F"/>
                </a:solidFill>
                <a:latin typeface="-apple-system"/>
              </a:rPr>
              <a:t>位置编码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AEDB73-53BC-48BD-3035-383F36C3D12A}"/>
              </a:ext>
            </a:extLst>
          </p:cNvPr>
          <p:cNvSpPr txBox="1"/>
          <p:nvPr/>
        </p:nvSpPr>
        <p:spPr>
          <a:xfrm>
            <a:off x="309881" y="4703069"/>
            <a:ext cx="1259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1A1C1F"/>
                </a:solidFill>
                <a:latin typeface="-apple-system"/>
              </a:rPr>
              <a:t>位置编码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F9AA94-22A8-D86E-2D92-A9C470075B7C}"/>
              </a:ext>
            </a:extLst>
          </p:cNvPr>
          <p:cNvSpPr txBox="1"/>
          <p:nvPr/>
        </p:nvSpPr>
        <p:spPr>
          <a:xfrm>
            <a:off x="3045461" y="2843218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=</a:t>
            </a:r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045C60-E298-DE1D-C4F0-5E30DAA12B33}"/>
              </a:ext>
            </a:extLst>
          </p:cNvPr>
          <p:cNvSpPr txBox="1"/>
          <p:nvPr/>
        </p:nvSpPr>
        <p:spPr>
          <a:xfrm>
            <a:off x="3045461" y="4387008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=</a:t>
            </a:r>
            <a:endParaRPr lang="zh-CN" altLang="en-US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A43C30E2-9E3A-64A5-CE2D-82EB6499C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952679"/>
              </p:ext>
            </p:extLst>
          </p:nvPr>
        </p:nvGraphicFramePr>
        <p:xfrm>
          <a:off x="3385822" y="2857693"/>
          <a:ext cx="1584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">
                  <a:extLst>
                    <a:ext uri="{9D8B030D-6E8A-4147-A177-3AD203B41FA5}">
                      <a16:colId xmlns:a16="http://schemas.microsoft.com/office/drawing/2014/main" val="2334367204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52224047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1055459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3977005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273795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3703FCA1-538D-9D28-B32E-05429CC2D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120426"/>
              </p:ext>
            </p:extLst>
          </p:nvPr>
        </p:nvGraphicFramePr>
        <p:xfrm>
          <a:off x="3385822" y="4345206"/>
          <a:ext cx="1584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">
                  <a:extLst>
                    <a:ext uri="{9D8B030D-6E8A-4147-A177-3AD203B41FA5}">
                      <a16:colId xmlns:a16="http://schemas.microsoft.com/office/drawing/2014/main" val="2334367204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52224047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1055459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3977005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273795"/>
                  </a:ext>
                </a:extLst>
              </a:tr>
            </a:tbl>
          </a:graphicData>
        </a:graphic>
      </p:graphicFrame>
      <p:pic>
        <p:nvPicPr>
          <p:cNvPr id="23" name="图片 22">
            <a:extLst>
              <a:ext uri="{FF2B5EF4-FFF2-40B4-BE49-F238E27FC236}">
                <a16:creationId xmlns:a16="http://schemas.microsoft.com/office/drawing/2014/main" id="{C03B25B6-63F5-1080-2F67-D760074BA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562" y="93032"/>
            <a:ext cx="4723703" cy="6605803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2015989-55E7-35AA-D967-A776A88EBC66}"/>
              </a:ext>
            </a:extLst>
          </p:cNvPr>
          <p:cNvSpPr txBox="1"/>
          <p:nvPr/>
        </p:nvSpPr>
        <p:spPr>
          <a:xfrm>
            <a:off x="642622" y="5832719"/>
            <a:ext cx="631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Transformer 的核心思想是使用注意力机制来建模序列中不同元素之间的关系。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998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B4235C-8905-25C0-220A-04F56149E586}"/>
              </a:ext>
            </a:extLst>
          </p:cNvPr>
          <p:cNvSpPr txBox="1"/>
          <p:nvPr/>
        </p:nvSpPr>
        <p:spPr>
          <a:xfrm>
            <a:off x="386080" y="808613"/>
            <a:ext cx="301752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ViT</a:t>
            </a:r>
            <a:r>
              <a:rPr lang="zh-CN" altLang="en-US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模型结构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F7B713-EEDD-7D41-071C-36049B7B25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2331720" cy="5891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ED80B06-40B1-AEC3-BFBE-F73251A982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" y="1582076"/>
            <a:ext cx="1143721" cy="11746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7EFDEB-EE30-1A07-511D-415C18709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155" y="1582075"/>
            <a:ext cx="1181609" cy="1181609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AFB8D21-4D85-E4FB-98E3-CA9EB7BE5A5A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728556" y="2169392"/>
            <a:ext cx="1020599" cy="3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937BB15-2A7B-91B5-0DD0-E05EEB111026}"/>
              </a:ext>
            </a:extLst>
          </p:cNvPr>
          <p:cNvSpPr txBox="1"/>
          <p:nvPr/>
        </p:nvSpPr>
        <p:spPr>
          <a:xfrm>
            <a:off x="2021840" y="1832390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1A1C1F"/>
                </a:solidFill>
                <a:latin typeface="-apple-system"/>
              </a:rPr>
              <a:t>切分</a:t>
            </a:r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54CFB97-BCFB-D249-9104-99857469B6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7" y="3374758"/>
            <a:ext cx="347980" cy="347980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594D480-7372-7992-EE73-1B83A98DE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21514"/>
              </p:ext>
            </p:extLst>
          </p:nvPr>
        </p:nvGraphicFramePr>
        <p:xfrm>
          <a:off x="1165861" y="3374758"/>
          <a:ext cx="1041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9548801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587823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965258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858544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27151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03295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16ED15F3-26E6-8429-83B2-54D8BB346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388673"/>
              </p:ext>
            </p:extLst>
          </p:nvPr>
        </p:nvGraphicFramePr>
        <p:xfrm>
          <a:off x="2672166" y="3340391"/>
          <a:ext cx="6248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1513945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872008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7365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203786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9CCE0454-B7E8-7532-41F1-4535915F622D}"/>
              </a:ext>
            </a:extLst>
          </p:cNvPr>
          <p:cNvSpPr txBox="1"/>
          <p:nvPr/>
        </p:nvSpPr>
        <p:spPr>
          <a:xfrm>
            <a:off x="2232661" y="3333985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···</a:t>
            </a:r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5D419A0-86EB-8D9A-B2ED-EFCFA10AC9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56" y="3890366"/>
            <a:ext cx="347980" cy="347980"/>
          </a:xfrm>
          <a:prstGeom prst="rect">
            <a:avLst/>
          </a:prstGeom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737D91FB-48EA-6467-0AAE-5F05A8721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522409"/>
              </p:ext>
            </p:extLst>
          </p:nvPr>
        </p:nvGraphicFramePr>
        <p:xfrm>
          <a:off x="1152175" y="3898009"/>
          <a:ext cx="1041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9548801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587823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965258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858544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27151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03295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547659AD-4EA3-5869-2DBE-E41725132C3F}"/>
              </a:ext>
            </a:extLst>
          </p:cNvPr>
          <p:cNvSpPr txBox="1"/>
          <p:nvPr/>
        </p:nvSpPr>
        <p:spPr>
          <a:xfrm>
            <a:off x="2242376" y="3853527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···</a:t>
            </a:r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22737342-1FDD-7E40-F90D-29077E482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15204"/>
              </p:ext>
            </p:extLst>
          </p:nvPr>
        </p:nvGraphicFramePr>
        <p:xfrm>
          <a:off x="2654301" y="3878936"/>
          <a:ext cx="6248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1513945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872008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47365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203786"/>
                  </a:ext>
                </a:extLst>
              </a:tr>
            </a:tbl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BE0458AF-994E-971B-8367-F9D32A14918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56" y="4442977"/>
            <a:ext cx="347980" cy="34798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7EBD6D0-BECC-DF4B-B2F3-1D4D67189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925" y="4389471"/>
            <a:ext cx="2255300" cy="492066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A394A44-9D66-7456-9A9E-0F70FAF4BDD8}"/>
              </a:ext>
            </a:extLst>
          </p:cNvPr>
          <p:cNvSpPr txBox="1"/>
          <p:nvPr/>
        </p:nvSpPr>
        <p:spPr>
          <a:xfrm rot="5400000">
            <a:off x="1561462" y="4890025"/>
            <a:ext cx="492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···</a:t>
            </a:r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D691B1B-907D-10D7-FACF-56C14E4139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706" y="5125905"/>
            <a:ext cx="2255300" cy="49206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4BAC6B56-B450-7E9E-5EEC-F9FBD092B14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56" y="5193122"/>
            <a:ext cx="347981" cy="347981"/>
          </a:xfrm>
          <a:prstGeom prst="rect">
            <a:avLst/>
          </a:prstGeom>
        </p:spPr>
      </p:pic>
      <p:sp>
        <p:nvSpPr>
          <p:cNvPr id="31" name="右大括号 30">
            <a:extLst>
              <a:ext uri="{FF2B5EF4-FFF2-40B4-BE49-F238E27FC236}">
                <a16:creationId xmlns:a16="http://schemas.microsoft.com/office/drawing/2014/main" id="{AEB56109-9894-C116-A40C-30DD0EDF4C1E}"/>
              </a:ext>
            </a:extLst>
          </p:cNvPr>
          <p:cNvSpPr/>
          <p:nvPr/>
        </p:nvSpPr>
        <p:spPr>
          <a:xfrm>
            <a:off x="3382678" y="3429351"/>
            <a:ext cx="264161" cy="196959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DC55503F-6662-9EC8-7349-E1105A323CCB}"/>
              </a:ext>
            </a:extLst>
          </p:cNvPr>
          <p:cNvSpPr/>
          <p:nvPr/>
        </p:nvSpPr>
        <p:spPr>
          <a:xfrm rot="16200000">
            <a:off x="2121175" y="2206649"/>
            <a:ext cx="132080" cy="196959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CE00498-9931-235B-412B-6D63CBFB1C8D}"/>
              </a:ext>
            </a:extLst>
          </p:cNvPr>
          <p:cNvSpPr txBox="1"/>
          <p:nvPr/>
        </p:nvSpPr>
        <p:spPr>
          <a:xfrm>
            <a:off x="1950916" y="2864537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768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5F17F75-04D4-0E41-A7DD-D1EF97DBD6B5}"/>
              </a:ext>
            </a:extLst>
          </p:cNvPr>
          <p:cNvSpPr txBox="1"/>
          <p:nvPr/>
        </p:nvSpPr>
        <p:spPr>
          <a:xfrm>
            <a:off x="3626408" y="4238346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196</a:t>
            </a:r>
            <a:endParaRPr lang="zh-CN" altLang="en-US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0F42E1A-0093-B0D7-2F5A-C37D0290B5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8045" y="325120"/>
            <a:ext cx="4758858" cy="335702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9A6958CE-1358-858C-6F08-5A28F9D4E3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5073" y="4649"/>
            <a:ext cx="2188471" cy="4100794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737501A1-C756-0563-11B3-0E9DCC3AEE82}"/>
              </a:ext>
            </a:extLst>
          </p:cNvPr>
          <p:cNvSpPr/>
          <p:nvPr/>
        </p:nvSpPr>
        <p:spPr>
          <a:xfrm>
            <a:off x="1267016" y="5759911"/>
            <a:ext cx="1950720" cy="90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FACEC0C-8E3C-4807-E9CD-928AD9531957}"/>
              </a:ext>
            </a:extLst>
          </p:cNvPr>
          <p:cNvSpPr txBox="1"/>
          <p:nvPr/>
        </p:nvSpPr>
        <p:spPr>
          <a:xfrm>
            <a:off x="181134" y="6013519"/>
            <a:ext cx="1292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197×768</a:t>
            </a:r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907BBA3-7453-9AC8-3083-851AE202DCBF}"/>
              </a:ext>
            </a:extLst>
          </p:cNvPr>
          <p:cNvSpPr/>
          <p:nvPr/>
        </p:nvSpPr>
        <p:spPr>
          <a:xfrm>
            <a:off x="3910814" y="5027881"/>
            <a:ext cx="482339" cy="15531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CB4CB18-0930-DE83-CEE2-19A2DF769CB7}"/>
              </a:ext>
            </a:extLst>
          </p:cNvPr>
          <p:cNvSpPr/>
          <p:nvPr/>
        </p:nvSpPr>
        <p:spPr>
          <a:xfrm>
            <a:off x="4044917" y="5111255"/>
            <a:ext cx="482339" cy="15531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C42573D-3FAA-DFE0-FFEE-84872D74D7D9}"/>
              </a:ext>
            </a:extLst>
          </p:cNvPr>
          <p:cNvSpPr/>
          <p:nvPr/>
        </p:nvSpPr>
        <p:spPr>
          <a:xfrm>
            <a:off x="4174789" y="5236960"/>
            <a:ext cx="482339" cy="15531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9348312-6008-9DB5-9C8E-7B8934C4E128}"/>
                  </a:ext>
                </a:extLst>
              </p:cNvPr>
              <p:cNvSpPr txBox="1"/>
              <p:nvPr/>
            </p:nvSpPr>
            <p:spPr>
              <a:xfrm>
                <a:off x="4344362" y="4786394"/>
                <a:ext cx="264162" cy="2160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9348312-6008-9DB5-9C8E-7B8934C4E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362" y="4786394"/>
                <a:ext cx="264162" cy="216085"/>
              </a:xfrm>
              <a:prstGeom prst="rect">
                <a:avLst/>
              </a:prstGeom>
              <a:blipFill>
                <a:blip r:embed="rId12"/>
                <a:stretch>
                  <a:fillRect l="-23256" t="-5556" r="-2558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4626FD4-C599-090E-5A05-7CE7AF06DCD0}"/>
                  </a:ext>
                </a:extLst>
              </p:cNvPr>
              <p:cNvSpPr txBox="1"/>
              <p:nvPr/>
            </p:nvSpPr>
            <p:spPr>
              <a:xfrm>
                <a:off x="4496762" y="4938794"/>
                <a:ext cx="26416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4626FD4-C599-090E-5A05-7CE7AF06D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762" y="4938794"/>
                <a:ext cx="264162" cy="215444"/>
              </a:xfrm>
              <a:prstGeom prst="rect">
                <a:avLst/>
              </a:prstGeom>
              <a:blipFill>
                <a:blip r:embed="rId13"/>
                <a:stretch>
                  <a:fillRect l="-23256" r="-20930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7950075-C9E1-A2D2-A973-6615732CAEA0}"/>
                  </a:ext>
                </a:extLst>
              </p:cNvPr>
              <p:cNvSpPr txBox="1"/>
              <p:nvPr/>
            </p:nvSpPr>
            <p:spPr>
              <a:xfrm>
                <a:off x="4649162" y="5091194"/>
                <a:ext cx="26416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7950075-C9E1-A2D2-A973-6615732CA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162" y="5091194"/>
                <a:ext cx="264162" cy="215444"/>
              </a:xfrm>
              <a:prstGeom prst="rect">
                <a:avLst/>
              </a:prstGeom>
              <a:blipFill>
                <a:blip r:embed="rId14"/>
                <a:stretch>
                  <a:fillRect l="-23256" r="-18605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本框 51">
            <a:extLst>
              <a:ext uri="{FF2B5EF4-FFF2-40B4-BE49-F238E27FC236}">
                <a16:creationId xmlns:a16="http://schemas.microsoft.com/office/drawing/2014/main" id="{6F18DEF8-765B-DD1E-1C17-825327388DEB}"/>
              </a:ext>
            </a:extLst>
          </p:cNvPr>
          <p:cNvSpPr txBox="1"/>
          <p:nvPr/>
        </p:nvSpPr>
        <p:spPr>
          <a:xfrm>
            <a:off x="3428475" y="5769506"/>
            <a:ext cx="883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>
                <a:solidFill>
                  <a:srgbClr val="1A1C1F"/>
                </a:solidFill>
                <a:latin typeface="-apple-system"/>
              </a:rPr>
              <a:t>·</a:t>
            </a:r>
            <a:endParaRPr lang="zh-CN" altLang="en-US" sz="3600" b="1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20C5683-6176-A030-D917-6A107420A5A4}"/>
              </a:ext>
            </a:extLst>
          </p:cNvPr>
          <p:cNvCxnSpPr>
            <a:cxnSpLocks/>
          </p:cNvCxnSpPr>
          <p:nvPr/>
        </p:nvCxnSpPr>
        <p:spPr>
          <a:xfrm>
            <a:off x="4727288" y="6013519"/>
            <a:ext cx="372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8F60C494-0585-A41B-EC8E-5CC784EC90E7}"/>
              </a:ext>
            </a:extLst>
          </p:cNvPr>
          <p:cNvSpPr/>
          <p:nvPr/>
        </p:nvSpPr>
        <p:spPr>
          <a:xfrm>
            <a:off x="5220334" y="5455034"/>
            <a:ext cx="482339" cy="9281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AFCF2E5-C28C-8AF0-60BC-4FCF09E3DAC8}"/>
              </a:ext>
            </a:extLst>
          </p:cNvPr>
          <p:cNvSpPr/>
          <p:nvPr/>
        </p:nvSpPr>
        <p:spPr>
          <a:xfrm>
            <a:off x="5309827" y="5549432"/>
            <a:ext cx="482339" cy="928174"/>
          </a:xfrm>
          <a:prstGeom prst="rect">
            <a:avLst/>
          </a:prstGeom>
          <a:solidFill>
            <a:srgbClr val="C8E5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22172A6-6ED1-E263-3D8F-0EDA2EC830DC}"/>
              </a:ext>
            </a:extLst>
          </p:cNvPr>
          <p:cNvSpPr/>
          <p:nvPr/>
        </p:nvSpPr>
        <p:spPr>
          <a:xfrm>
            <a:off x="5421396" y="5643830"/>
            <a:ext cx="482339" cy="928174"/>
          </a:xfrm>
          <a:prstGeom prst="rect">
            <a:avLst/>
          </a:prstGeom>
          <a:solidFill>
            <a:srgbClr val="7DD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023B7CF-35CF-AF94-2D28-CC4320240579}"/>
                  </a:ext>
                </a:extLst>
              </p:cNvPr>
              <p:cNvSpPr txBox="1"/>
              <p:nvPr/>
            </p:nvSpPr>
            <p:spPr>
              <a:xfrm>
                <a:off x="5660085" y="5209539"/>
                <a:ext cx="264162" cy="222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023B7CF-35CF-AF94-2D28-CC4320240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085" y="5209539"/>
                <a:ext cx="264162" cy="222369"/>
              </a:xfrm>
              <a:prstGeom prst="rect">
                <a:avLst/>
              </a:prstGeom>
              <a:blipFill>
                <a:blip r:embed="rId15"/>
                <a:stretch>
                  <a:fillRect l="-1363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F15BBD0-1892-F52F-234B-BBCD8D95DBB3}"/>
                  </a:ext>
                </a:extLst>
              </p:cNvPr>
              <p:cNvSpPr txBox="1"/>
              <p:nvPr/>
            </p:nvSpPr>
            <p:spPr>
              <a:xfrm>
                <a:off x="5812485" y="5361939"/>
                <a:ext cx="264162" cy="222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F15BBD0-1892-F52F-234B-BBCD8D95D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485" y="5361939"/>
                <a:ext cx="264162" cy="222369"/>
              </a:xfrm>
              <a:prstGeom prst="rect">
                <a:avLst/>
              </a:prstGeom>
              <a:blipFill>
                <a:blip r:embed="rId16"/>
                <a:stretch>
                  <a:fillRect l="-6818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9985AB5-2172-2F4A-04E6-9172CACB0795}"/>
                  </a:ext>
                </a:extLst>
              </p:cNvPr>
              <p:cNvSpPr txBox="1"/>
              <p:nvPr/>
            </p:nvSpPr>
            <p:spPr>
              <a:xfrm>
                <a:off x="5964885" y="5514339"/>
                <a:ext cx="264162" cy="222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9985AB5-2172-2F4A-04E6-9172CACB0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885" y="5514339"/>
                <a:ext cx="264162" cy="222369"/>
              </a:xfrm>
              <a:prstGeom prst="rect">
                <a:avLst/>
              </a:prstGeom>
              <a:blipFill>
                <a:blip r:embed="rId17"/>
                <a:stretch>
                  <a:fillRect l="-4545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85B595A8-2052-689D-75A1-6B2F418C69DD}"/>
              </a:ext>
            </a:extLst>
          </p:cNvPr>
          <p:cNvCxnSpPr/>
          <p:nvPr/>
        </p:nvCxnSpPr>
        <p:spPr>
          <a:xfrm flipV="1">
            <a:off x="6056135" y="5466510"/>
            <a:ext cx="325120" cy="540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7422D09B-6184-F619-4AA1-0A6E65AE7D0D}"/>
              </a:ext>
            </a:extLst>
          </p:cNvPr>
          <p:cNvSpPr/>
          <p:nvPr/>
        </p:nvSpPr>
        <p:spPr>
          <a:xfrm>
            <a:off x="6218695" y="4387815"/>
            <a:ext cx="482339" cy="9281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90A7B478-2ADD-539C-EA73-7735D1A05AD6}"/>
                  </a:ext>
                </a:extLst>
              </p:cNvPr>
              <p:cNvSpPr txBox="1"/>
              <p:nvPr/>
            </p:nvSpPr>
            <p:spPr>
              <a:xfrm>
                <a:off x="6361794" y="4126109"/>
                <a:ext cx="264162" cy="222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90A7B478-2ADD-539C-EA73-7735D1A05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794" y="4126109"/>
                <a:ext cx="264162" cy="222369"/>
              </a:xfrm>
              <a:prstGeom prst="rect">
                <a:avLst/>
              </a:prstGeom>
              <a:blipFill>
                <a:blip r:embed="rId18"/>
                <a:stretch>
                  <a:fillRect l="-1395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 67">
            <a:extLst>
              <a:ext uri="{FF2B5EF4-FFF2-40B4-BE49-F238E27FC236}">
                <a16:creationId xmlns:a16="http://schemas.microsoft.com/office/drawing/2014/main" id="{FFB16C4A-90C7-6EC8-5354-39AB739878E1}"/>
              </a:ext>
            </a:extLst>
          </p:cNvPr>
          <p:cNvSpPr/>
          <p:nvPr/>
        </p:nvSpPr>
        <p:spPr>
          <a:xfrm rot="16200000">
            <a:off x="7187927" y="4364570"/>
            <a:ext cx="482339" cy="928174"/>
          </a:xfrm>
          <a:prstGeom prst="rect">
            <a:avLst/>
          </a:prstGeom>
          <a:solidFill>
            <a:srgbClr val="C8E5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896E961-E709-079C-9068-FC431DFAD793}"/>
                  </a:ext>
                </a:extLst>
              </p:cNvPr>
              <p:cNvSpPr txBox="1"/>
              <p:nvPr/>
            </p:nvSpPr>
            <p:spPr>
              <a:xfrm>
                <a:off x="7297015" y="4346220"/>
                <a:ext cx="264162" cy="222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896E961-E709-079C-9068-FC431DFAD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015" y="4346220"/>
                <a:ext cx="264162" cy="222369"/>
              </a:xfrm>
              <a:prstGeom prst="rect">
                <a:avLst/>
              </a:prstGeom>
              <a:blipFill>
                <a:blip r:embed="rId19"/>
                <a:stretch>
                  <a:fillRect l="-23256" r="-13953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本框 69">
            <a:extLst>
              <a:ext uri="{FF2B5EF4-FFF2-40B4-BE49-F238E27FC236}">
                <a16:creationId xmlns:a16="http://schemas.microsoft.com/office/drawing/2014/main" id="{F58C2F01-B573-A3C2-7318-46685F879421}"/>
              </a:ext>
            </a:extLst>
          </p:cNvPr>
          <p:cNvSpPr txBox="1"/>
          <p:nvPr/>
        </p:nvSpPr>
        <p:spPr>
          <a:xfrm>
            <a:off x="6701034" y="4531321"/>
            <a:ext cx="883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>
                <a:solidFill>
                  <a:srgbClr val="1A1C1F"/>
                </a:solidFill>
                <a:latin typeface="-apple-system"/>
              </a:rPr>
              <a:t>·</a:t>
            </a:r>
            <a:endParaRPr lang="zh-CN" altLang="en-US" sz="3600" b="1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4E4F3D3B-83F6-97A2-B2BB-CDB287D6485D}"/>
              </a:ext>
            </a:extLst>
          </p:cNvPr>
          <p:cNvCxnSpPr>
            <a:cxnSpLocks/>
          </p:cNvCxnSpPr>
          <p:nvPr/>
        </p:nvCxnSpPr>
        <p:spPr>
          <a:xfrm>
            <a:off x="8145447" y="4828657"/>
            <a:ext cx="1291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3F44547-A8D9-2A51-9722-EC134E7A1E50}"/>
                  </a:ext>
                </a:extLst>
              </p:cNvPr>
              <p:cNvSpPr txBox="1"/>
              <p:nvPr/>
            </p:nvSpPr>
            <p:spPr>
              <a:xfrm>
                <a:off x="7893184" y="4105443"/>
                <a:ext cx="1888594" cy="617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3F44547-A8D9-2A51-9722-EC134E7A1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184" y="4105443"/>
                <a:ext cx="1888594" cy="617413"/>
              </a:xfrm>
              <a:prstGeom prst="rect">
                <a:avLst/>
              </a:prstGeom>
              <a:blipFill>
                <a:blip r:embed="rId20"/>
                <a:stretch>
                  <a:fillRect b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 73">
            <a:extLst>
              <a:ext uri="{FF2B5EF4-FFF2-40B4-BE49-F238E27FC236}">
                <a16:creationId xmlns:a16="http://schemas.microsoft.com/office/drawing/2014/main" id="{6C8F2C09-209A-349F-79E6-278D04FDF15F}"/>
              </a:ext>
            </a:extLst>
          </p:cNvPr>
          <p:cNvSpPr/>
          <p:nvPr/>
        </p:nvSpPr>
        <p:spPr>
          <a:xfrm>
            <a:off x="9781778" y="4308785"/>
            <a:ext cx="923002" cy="9281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C7BCFE80-8A72-D790-AC90-B3D9B9B03254}"/>
              </a:ext>
            </a:extLst>
          </p:cNvPr>
          <p:cNvCxnSpPr/>
          <p:nvPr/>
        </p:nvCxnSpPr>
        <p:spPr>
          <a:xfrm>
            <a:off x="6350776" y="6408048"/>
            <a:ext cx="3340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3CA1369-3AD9-AF8D-A34A-0353A0B5DA2D}"/>
                  </a:ext>
                </a:extLst>
              </p:cNvPr>
              <p:cNvSpPr txBox="1"/>
              <p:nvPr/>
            </p:nvSpPr>
            <p:spPr>
              <a:xfrm>
                <a:off x="9668966" y="5908214"/>
                <a:ext cx="264162" cy="222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3CA1369-3AD9-AF8D-A34A-0353A0B5D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966" y="5908214"/>
                <a:ext cx="264162" cy="222369"/>
              </a:xfrm>
              <a:prstGeom prst="rect">
                <a:avLst/>
              </a:prstGeom>
              <a:blipFill>
                <a:blip r:embed="rId21"/>
                <a:stretch>
                  <a:fillRect l="-4651" b="-5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>
            <a:extLst>
              <a:ext uri="{FF2B5EF4-FFF2-40B4-BE49-F238E27FC236}">
                <a16:creationId xmlns:a16="http://schemas.microsoft.com/office/drawing/2014/main" id="{344F758D-B907-8DB1-31E0-431B0F231A62}"/>
              </a:ext>
            </a:extLst>
          </p:cNvPr>
          <p:cNvSpPr/>
          <p:nvPr/>
        </p:nvSpPr>
        <p:spPr>
          <a:xfrm>
            <a:off x="10002109" y="5730421"/>
            <a:ext cx="482339" cy="928174"/>
          </a:xfrm>
          <a:prstGeom prst="rect">
            <a:avLst/>
          </a:prstGeom>
          <a:solidFill>
            <a:srgbClr val="7DD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ED0A9E2D-1A00-79DB-5413-A9F9CD2EED7C}"/>
              </a:ext>
            </a:extLst>
          </p:cNvPr>
          <p:cNvSpPr txBox="1"/>
          <p:nvPr/>
        </p:nvSpPr>
        <p:spPr>
          <a:xfrm>
            <a:off x="9230177" y="5356911"/>
            <a:ext cx="9230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rgbClr val="1A1C1F"/>
                </a:solidFill>
                <a:latin typeface="-apple-system"/>
              </a:rPr>
              <a:t>加权求和</a:t>
            </a:r>
            <a:endParaRPr lang="zh-CN" altLang="en-US" sz="120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A1BA24EC-43B3-48BC-EF2E-7F136725FD49}"/>
              </a:ext>
            </a:extLst>
          </p:cNvPr>
          <p:cNvSpPr txBox="1"/>
          <p:nvPr/>
        </p:nvSpPr>
        <p:spPr>
          <a:xfrm>
            <a:off x="9953022" y="5154238"/>
            <a:ext cx="6834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>
                <a:solidFill>
                  <a:srgbClr val="1A1C1F"/>
                </a:solidFill>
                <a:latin typeface="-apple-system"/>
              </a:rPr>
              <a:t>×</a:t>
            </a:r>
            <a:endParaRPr lang="zh-CN" altLang="en-US" sz="3600" b="1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9F3EA-24E0-C4A4-67B9-CC09597EA953}"/>
              </a:ext>
            </a:extLst>
          </p:cNvPr>
          <p:cNvSpPr txBox="1"/>
          <p:nvPr/>
        </p:nvSpPr>
        <p:spPr>
          <a:xfrm>
            <a:off x="10815296" y="5304395"/>
            <a:ext cx="88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1A1C1F"/>
                </a:solidFill>
                <a:latin typeface="-apple-system"/>
              </a:rPr>
              <a:t>=</a:t>
            </a:r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9FB3C0C-8B95-A6CE-005F-834E9360C9A9}"/>
              </a:ext>
            </a:extLst>
          </p:cNvPr>
          <p:cNvSpPr/>
          <p:nvPr/>
        </p:nvSpPr>
        <p:spPr>
          <a:xfrm>
            <a:off x="11243897" y="5027881"/>
            <a:ext cx="482339" cy="94369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449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E6FA2F0-1A22-614E-A274-E82E51237D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2331720" cy="5891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5A6964C-0037-34BB-BB39-4AF7E7A2806A}"/>
              </a:ext>
            </a:extLst>
          </p:cNvPr>
          <p:cNvSpPr txBox="1"/>
          <p:nvPr/>
        </p:nvSpPr>
        <p:spPr>
          <a:xfrm>
            <a:off x="543560" y="1165275"/>
            <a:ext cx="11262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问题：</a:t>
            </a:r>
            <a:r>
              <a:rPr lang="en-US" altLang="zh-CN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zh-CN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ViT 中为什么要采用多头注意力机制？为什么最终取分类 token 输入 MLP，而不是取其他</a:t>
            </a:r>
            <a:endParaRPr lang="en-US" altLang="zh-CN" sz="2000" b="1">
              <a:solidFill>
                <a:srgbClr val="26558C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          </a:t>
            </a:r>
            <a:r>
              <a:rPr lang="zh-CN" altLang="zh-CN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 patch token？</a:t>
            </a:r>
            <a:endParaRPr lang="zh-CN" altLang="en-US" sz="2000" b="1">
              <a:solidFill>
                <a:srgbClr val="26558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9A28762-4B92-AD11-FDFF-EB093A62D74D}"/>
              </a:ext>
            </a:extLst>
          </p:cNvPr>
          <p:cNvSpPr/>
          <p:nvPr/>
        </p:nvSpPr>
        <p:spPr>
          <a:xfrm>
            <a:off x="347980" y="5058377"/>
            <a:ext cx="10271760" cy="115954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29743C-E919-3A7A-CAAA-BCB5DE96EC38}"/>
              </a:ext>
            </a:extLst>
          </p:cNvPr>
          <p:cNvSpPr txBox="1"/>
          <p:nvPr/>
        </p:nvSpPr>
        <p:spPr>
          <a:xfrm>
            <a:off x="543560" y="2203416"/>
            <a:ext cx="10581640" cy="92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分析：</a:t>
            </a:r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单头注意力只能从一种角度学习 patch 之间的关系，表达能力有限。而图像中有局部纹理、边</a:t>
            </a:r>
            <a:r>
              <a:rPr lang="en-US" altLang="zh-CN" b="0" i="0">
                <a:solidFill>
                  <a:srgbClr val="1A1C1F"/>
                </a:solidFill>
                <a:effectLst/>
                <a:latin typeface="-apple-system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1A1C1F"/>
                </a:solidFill>
                <a:latin typeface="-apple-system"/>
              </a:rPr>
              <a:t>            </a:t>
            </a:r>
            <a:r>
              <a:rPr lang="en-US" altLang="zh-CN" b="0" i="0">
                <a:solidFill>
                  <a:srgbClr val="1A1C1F"/>
                </a:solidFill>
                <a:effectLst/>
                <a:latin typeface="-apple-system"/>
              </a:rPr>
              <a:t>   </a:t>
            </a:r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缘</a:t>
            </a:r>
            <a:r>
              <a:rPr lang="zh-CN" altLang="en-US">
                <a:solidFill>
                  <a:srgbClr val="1A1C1F"/>
                </a:solidFill>
                <a:latin typeface="-apple-system"/>
              </a:rPr>
              <a:t>，</a:t>
            </a:r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有轮廓等多种特征。多头注意力可以让不同注意力头分别从不同特征子空间学习信息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307D8CC-A738-1B0E-036D-311A407DE263}"/>
              </a:ext>
            </a:extLst>
          </p:cNvPr>
          <p:cNvSpPr txBox="1"/>
          <p:nvPr/>
        </p:nvSpPr>
        <p:spPr>
          <a:xfrm>
            <a:off x="1262380" y="3284940"/>
            <a:ext cx="9357360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>
                <a:solidFill>
                  <a:srgbClr val="1A1C1F"/>
                </a:solidFill>
                <a:latin typeface="-apple-system"/>
              </a:rPr>
              <a:t>ViT 在输入 patch token 之前，会额外加入一个可学习的</a:t>
            </a:r>
            <a:r>
              <a:rPr lang="zh-CN" altLang="en-US">
                <a:solidFill>
                  <a:srgbClr val="1A1C1F"/>
                </a:solidFill>
                <a:latin typeface="-apple-system"/>
              </a:rPr>
              <a:t>分类</a:t>
            </a:r>
            <a:r>
              <a:rPr lang="zh-CN" altLang="zh-CN">
                <a:solidFill>
                  <a:srgbClr val="1A1C1F"/>
                </a:solidFill>
                <a:latin typeface="-apple-system"/>
              </a:rPr>
              <a:t>token。</a:t>
            </a:r>
            <a:r>
              <a:rPr lang="zh-CN" altLang="en-US">
                <a:solidFill>
                  <a:srgbClr val="1A1C1F"/>
                </a:solidFill>
                <a:latin typeface="-apple-system"/>
              </a:rPr>
              <a:t>它不是图像的信息</a:t>
            </a:r>
            <a:r>
              <a:rPr lang="zh-CN" altLang="zh-CN">
                <a:solidFill>
                  <a:srgbClr val="1A1C1F"/>
                </a:solidFill>
                <a:latin typeface="-apple-system"/>
              </a:rPr>
              <a:t>，而是专门用于</a:t>
            </a:r>
            <a:r>
              <a:rPr lang="zh-CN" altLang="en-US">
                <a:solidFill>
                  <a:srgbClr val="1A1C1F"/>
                </a:solidFill>
                <a:latin typeface="-apple-system"/>
              </a:rPr>
              <a:t>学习和</a:t>
            </a:r>
            <a:r>
              <a:rPr lang="zh-CN" altLang="zh-CN">
                <a:solidFill>
                  <a:srgbClr val="1A1C1F"/>
                </a:solidFill>
                <a:latin typeface="-apple-system"/>
              </a:rPr>
              <a:t>汇总整张图像的信息。经过多层</a:t>
            </a:r>
            <a:r>
              <a:rPr lang="en-US" altLang="zh-CN">
                <a:solidFill>
                  <a:srgbClr val="1A1C1F"/>
                </a:solidFill>
                <a:latin typeface="-apple-system"/>
              </a:rPr>
              <a:t>Transformer</a:t>
            </a:r>
            <a:r>
              <a:rPr lang="zh-CN" altLang="en-US">
                <a:solidFill>
                  <a:srgbClr val="1A1C1F"/>
                </a:solidFill>
                <a:latin typeface="-apple-system"/>
              </a:rPr>
              <a:t>编码器</a:t>
            </a:r>
            <a:r>
              <a:rPr lang="zh-CN" altLang="zh-CN">
                <a:solidFill>
                  <a:srgbClr val="1A1C1F"/>
                </a:solidFill>
                <a:latin typeface="-apple-system"/>
              </a:rPr>
              <a:t>后，CLS token 会通过自注意力机制不断和所有 patch token 交互，吸收各个图像块中的有用信息。</a:t>
            </a:r>
            <a:endParaRPr lang="zh-CN" altLang="en-US">
              <a:solidFill>
                <a:srgbClr val="1A1C1F"/>
              </a:solidFill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C62942-9E6B-4CE1-6E6E-ACD543BDFD73}"/>
              </a:ext>
            </a:extLst>
          </p:cNvPr>
          <p:cNvSpPr txBox="1"/>
          <p:nvPr/>
        </p:nvSpPr>
        <p:spPr>
          <a:xfrm>
            <a:off x="543560" y="5175522"/>
            <a:ext cx="10795000" cy="92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26558C"/>
                </a:solidFill>
                <a:latin typeface="Microsoft YaHei" panose="020B0503020204020204" pitchFamily="34" charset="-122"/>
              </a:rPr>
              <a:t>总结：</a:t>
            </a:r>
            <a:r>
              <a:rPr lang="zh-CN" altLang="zh-CN">
                <a:solidFill>
                  <a:srgbClr val="1A1C1F"/>
                </a:solidFill>
                <a:latin typeface="-apple-system"/>
              </a:rPr>
              <a:t>多头注意力的作用是从多个角度学习图像中不同 patch 之间的关系，增强特征表达能力；</a:t>
            </a:r>
            <a:endParaRPr lang="en-US" altLang="zh-CN">
              <a:solidFill>
                <a:srgbClr val="1A1C1F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1A1C1F"/>
                </a:solidFill>
                <a:latin typeface="-apple-system"/>
              </a:rPr>
              <a:t>              </a:t>
            </a:r>
            <a:r>
              <a:rPr lang="zh-CN" altLang="zh-CN">
                <a:solidFill>
                  <a:srgbClr val="1A1C1F"/>
                </a:solidFill>
                <a:latin typeface="-apple-system"/>
              </a:rPr>
              <a:t>分类 token 的作用是汇总整张图像的全局信息，并作为最终分类输入。</a:t>
            </a:r>
            <a:endParaRPr lang="zh-CN" altLang="en-US">
              <a:solidFill>
                <a:srgbClr val="1A1C1F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2039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8AA2625-A4A1-F430-2F48-178A03CB19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2331720" cy="5891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D1F4EC-AA22-B90B-1F03-9F0D1048C341}"/>
              </a:ext>
            </a:extLst>
          </p:cNvPr>
          <p:cNvSpPr txBox="1"/>
          <p:nvPr/>
        </p:nvSpPr>
        <p:spPr>
          <a:xfrm>
            <a:off x="386080" y="920373"/>
            <a:ext cx="354584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ViT</a:t>
            </a:r>
            <a:r>
              <a:rPr lang="zh-CN" altLang="en-US" sz="3000" b="1">
                <a:solidFill>
                  <a:srgbClr val="26558C"/>
                </a:solidFill>
                <a:latin typeface="Microsoft YaHei" panose="020B0503020204020204" pitchFamily="34" charset="-122"/>
              </a:rPr>
              <a:t>预训练与测试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A9FCE12-137E-9645-D02B-30B32D1A6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952036"/>
              </p:ext>
            </p:extLst>
          </p:nvPr>
        </p:nvGraphicFramePr>
        <p:xfrm>
          <a:off x="457200" y="1805595"/>
          <a:ext cx="542544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>
                  <a:extLst>
                    <a:ext uri="{9D8B030D-6E8A-4147-A177-3AD203B41FA5}">
                      <a16:colId xmlns:a16="http://schemas.microsoft.com/office/drawing/2014/main" val="2923346020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1627745774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1920891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epoch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训练准确率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训练损失值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91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0.949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0.167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673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0.938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0.179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416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0.946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0.159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82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0.976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0.069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852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0.968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0.090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08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测试准确率</a:t>
                      </a:r>
                    </a:p>
                  </a:txBody>
                  <a:tcPr>
                    <a:solidFill>
                      <a:srgbClr val="4874C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0.938</a:t>
                      </a:r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415765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66334DD7-6E9E-77F0-8865-6D52C30DA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032" y="294575"/>
            <a:ext cx="5609768" cy="2268379"/>
          </a:xfrm>
          <a:prstGeom prst="rect">
            <a:avLst/>
          </a:prstGeom>
        </p:spPr>
      </p:pic>
      <p:pic>
        <p:nvPicPr>
          <p:cNvPr id="9" name="图片 8" descr="用户附件">
            <a:extLst>
              <a:ext uri="{FF2B5EF4-FFF2-40B4-BE49-F238E27FC236}">
                <a16:creationId xmlns:a16="http://schemas.microsoft.com/office/drawing/2014/main" id="{BCEAD8DB-CEBD-A8DB-145B-8514A28F1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640" y="2562954"/>
            <a:ext cx="5871492" cy="289296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C1E8E53-65CD-C13E-2DCD-3FBA21A222E3}"/>
              </a:ext>
            </a:extLst>
          </p:cNvPr>
          <p:cNvSpPr txBox="1"/>
          <p:nvPr/>
        </p:nvSpPr>
        <p:spPr>
          <a:xfrm>
            <a:off x="386080" y="4808242"/>
            <a:ext cx="5425440" cy="1295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55905">
              <a:lnSpc>
                <a:spcPct val="125000"/>
              </a:lnSpc>
              <a:spcAft>
                <a:spcPts val="600"/>
              </a:spcAft>
              <a:buNone/>
            </a:pPr>
            <a:r>
              <a:rPr lang="zh-CN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从训练结果看，第 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到第 10 轮的训练准确率整体维持在较高水平，最高达到 0.976，测试准确率为 0.9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38</a:t>
            </a:r>
            <a:r>
              <a:rPr lang="zh-CN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。说明预训练 ViT 经过微调后可以较好适应 Rafd90 表情分类任务。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742EF2-A2E2-6140-7615-DFB9BA0BA456}"/>
              </a:ext>
            </a:extLst>
          </p:cNvPr>
          <p:cNvSpPr txBox="1"/>
          <p:nvPr/>
        </p:nvSpPr>
        <p:spPr>
          <a:xfrm>
            <a:off x="6461762" y="5640095"/>
            <a:ext cx="558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>
                <a:solidFill>
                  <a:srgbClr val="1A1C1F"/>
                </a:solidFill>
                <a:effectLst/>
                <a:latin typeface="-apple-system"/>
              </a:rPr>
              <a:t>ViT 的 CLS attention 可视化结果表明，模型在进行表情分类时主要关注眼部、眉毛、额头皱纹和嘴部等关键面部区域。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0524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3086</TotalTime>
  <Words>1130</Words>
  <Application>Microsoft Office PowerPoint</Application>
  <PresentationFormat>宽屏</PresentationFormat>
  <Paragraphs>170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-apple-system</vt:lpstr>
      <vt:lpstr>微软雅黑</vt:lpstr>
      <vt:lpstr>微软雅黑</vt:lpstr>
      <vt:lpstr>Arial</vt:lpstr>
      <vt:lpstr>Calibri</vt:lpstr>
      <vt:lpstr>Cambria Math</vt:lpstr>
      <vt:lpstr>WPS</vt:lpstr>
      <vt:lpstr>学习情况汇报</vt:lpstr>
      <vt:lpstr>空间注意力机制</vt:lpstr>
      <vt:lpstr>通道注意力机制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</dc:creator>
  <cp:lastModifiedBy>甫立 陈</cp:lastModifiedBy>
  <cp:revision>15</cp:revision>
  <dcterms:created xsi:type="dcterms:W3CDTF">2023-08-09T12:44:00Z</dcterms:created>
  <dcterms:modified xsi:type="dcterms:W3CDTF">2026-06-09T13:58:34Z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