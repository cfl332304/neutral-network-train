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69" r:id="rId16"/>
    <p:sldId id="270" r:id="rId17"/>
    <p:sldId id="271" r:id="rId18"/>
    <p:sldId id="273" r:id="rId19"/>
    <p:sldId id="275" r:id="rId20"/>
    <p:sldId id="274" r:id="rId21"/>
    <p:sldId id="278" r:id="rId22"/>
    <p:sldId id="276" r:id="rId23"/>
    <p:sldId id="277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CCFFCC"/>
    <a:srgbClr val="99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86" y="11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9652668-1A8D-F4D7-57E1-F0006C024FD5}"/>
              </a:ext>
            </a:extLst>
          </p:cNvPr>
          <p:cNvSpPr txBox="1"/>
          <p:nvPr/>
        </p:nvSpPr>
        <p:spPr>
          <a:xfrm>
            <a:off x="3267074" y="1586984"/>
            <a:ext cx="48013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/>
              <a:t>学习情况汇报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92575C-8292-6884-361F-5FABB28C7A8C}"/>
              </a:ext>
            </a:extLst>
          </p:cNvPr>
          <p:cNvSpPr txBox="1"/>
          <p:nvPr/>
        </p:nvSpPr>
        <p:spPr>
          <a:xfrm>
            <a:off x="7411029" y="409926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汇报人：陈甫立</a:t>
            </a:r>
          </a:p>
        </p:txBody>
      </p:sp>
    </p:spTree>
    <p:extLst>
      <p:ext uri="{BB962C8B-B14F-4D97-AF65-F5344CB8AC3E}">
        <p14:creationId xmlns:p14="http://schemas.microsoft.com/office/powerpoint/2010/main" val="721415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3A60738-1AAC-E992-90A4-1F9362C21D55}"/>
              </a:ext>
            </a:extLst>
          </p:cNvPr>
          <p:cNvSpPr txBox="1"/>
          <p:nvPr/>
        </p:nvSpPr>
        <p:spPr>
          <a:xfrm>
            <a:off x="485413" y="427721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/>
              <a:t>本周学习任务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2534A9-2214-05D1-F778-B51AB73D0365}"/>
              </a:ext>
            </a:extLst>
          </p:cNvPr>
          <p:cNvSpPr txBox="1"/>
          <p:nvPr/>
        </p:nvSpPr>
        <p:spPr>
          <a:xfrm>
            <a:off x="659756" y="1967459"/>
            <a:ext cx="105387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/>
              <a:t>1</a:t>
            </a:r>
            <a:r>
              <a:rPr lang="zh-CN" altLang="en-US" sz="2400"/>
              <a:t>、采用</a:t>
            </a:r>
            <a:r>
              <a:rPr lang="en-US" altLang="zh-CN" sz="2400"/>
              <a:t>CNN</a:t>
            </a:r>
            <a:r>
              <a:rPr lang="zh-CN" altLang="en-US" sz="2400"/>
              <a:t>来完成图像分类任务（</a:t>
            </a:r>
            <a:r>
              <a:rPr lang="en-US" altLang="zh-CN" sz="2400"/>
              <a:t>CIFAR10</a:t>
            </a:r>
            <a:r>
              <a:rPr lang="zh-CN" altLang="en-US" sz="2400"/>
              <a:t>），对比不同超参数下的分类结果</a:t>
            </a:r>
            <a:endParaRPr lang="en-US" altLang="zh-CN" sz="24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C65068-60B3-B326-1438-FC182B0A9F47}"/>
              </a:ext>
            </a:extLst>
          </p:cNvPr>
          <p:cNvSpPr txBox="1"/>
          <p:nvPr/>
        </p:nvSpPr>
        <p:spPr>
          <a:xfrm>
            <a:off x="659756" y="3040628"/>
            <a:ext cx="11933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2</a:t>
            </a:r>
            <a:r>
              <a:rPr lang="zh-CN" altLang="en-US" sz="2400"/>
              <a:t>、学习</a:t>
            </a:r>
            <a:r>
              <a:rPr lang="en-US" altLang="zh-CN" sz="2400"/>
              <a:t>VGG</a:t>
            </a:r>
            <a:r>
              <a:rPr lang="zh-CN" altLang="en-US" sz="2400"/>
              <a:t>、</a:t>
            </a:r>
            <a:r>
              <a:rPr lang="en-US" altLang="zh-CN" sz="2400"/>
              <a:t>GoogLeNet</a:t>
            </a:r>
            <a:r>
              <a:rPr lang="zh-CN" altLang="en-US" sz="2400"/>
              <a:t>、</a:t>
            </a:r>
            <a:r>
              <a:rPr lang="en-US" altLang="zh-CN" sz="2400"/>
              <a:t>ResNet</a:t>
            </a:r>
            <a:r>
              <a:rPr lang="zh-CN" altLang="en-US" sz="2400"/>
              <a:t>的模型结构，并采用这些结构完成图像分类</a:t>
            </a:r>
            <a:endParaRPr lang="en-US" altLang="zh-CN" sz="2400"/>
          </a:p>
          <a:p>
            <a:r>
              <a:rPr lang="en-US" altLang="zh-CN" sz="2400"/>
              <a:t>										</a:t>
            </a:r>
            <a:r>
              <a:rPr lang="zh-CN" altLang="en-US" sz="2400"/>
              <a:t>（</a:t>
            </a:r>
            <a:r>
              <a:rPr lang="en-US" altLang="zh-CN" sz="2400"/>
              <a:t>Rafd90</a:t>
            </a:r>
            <a:r>
              <a:rPr lang="zh-CN" altLang="en-US" sz="2400"/>
              <a:t>）</a:t>
            </a:r>
            <a:endParaRPr lang="en-US" altLang="zh-CN" sz="24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464936-A6C6-907E-ABD2-3FA9BD962D54}"/>
              </a:ext>
            </a:extLst>
          </p:cNvPr>
          <p:cNvSpPr txBox="1"/>
          <p:nvPr/>
        </p:nvSpPr>
        <p:spPr>
          <a:xfrm>
            <a:off x="659756" y="4102487"/>
            <a:ext cx="4341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/>
              <a:t>3</a:t>
            </a:r>
            <a:r>
              <a:rPr lang="zh-CN" altLang="en-US" sz="2400"/>
              <a:t>、修改超参数，对比实验结果</a:t>
            </a:r>
            <a:endParaRPr lang="en-US" altLang="zh-CN" sz="2400"/>
          </a:p>
        </p:txBody>
      </p:sp>
    </p:spTree>
    <p:extLst>
      <p:ext uri="{BB962C8B-B14F-4D97-AF65-F5344CB8AC3E}">
        <p14:creationId xmlns:p14="http://schemas.microsoft.com/office/powerpoint/2010/main" val="1056548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759029E-32FB-BB33-5D45-F42BB4470603}"/>
              </a:ext>
            </a:extLst>
          </p:cNvPr>
          <p:cNvSpPr txBox="1"/>
          <p:nvPr/>
        </p:nvSpPr>
        <p:spPr>
          <a:xfrm>
            <a:off x="612735" y="439296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/>
              <a:t>完成情况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0DD103-B4E7-8E37-C1BB-640E5B69FC25}"/>
              </a:ext>
            </a:extLst>
          </p:cNvPr>
          <p:cNvSpPr txBox="1"/>
          <p:nvPr/>
        </p:nvSpPr>
        <p:spPr>
          <a:xfrm>
            <a:off x="612735" y="1805413"/>
            <a:ext cx="11112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完成采用</a:t>
            </a:r>
            <a:r>
              <a:rPr lang="en-US" altLang="zh-CN" sz="2400"/>
              <a:t>CNN</a:t>
            </a:r>
            <a:r>
              <a:rPr lang="zh-CN" altLang="en-US" sz="2400"/>
              <a:t>对</a:t>
            </a:r>
            <a:r>
              <a:rPr lang="en-US" altLang="zh-CN" sz="2400"/>
              <a:t>CIFAR10</a:t>
            </a:r>
            <a:r>
              <a:rPr lang="zh-CN" altLang="en-US" sz="2400"/>
              <a:t>数据集的分类，并修改</a:t>
            </a:r>
            <a:r>
              <a:rPr lang="en-US" altLang="zh-CN" sz="2400"/>
              <a:t>epoch</a:t>
            </a:r>
            <a:r>
              <a:rPr lang="zh-CN" altLang="en-US" sz="2400"/>
              <a:t>、</a:t>
            </a:r>
            <a:r>
              <a:rPr lang="en-US" altLang="zh-CN" sz="2400"/>
              <a:t>lr</a:t>
            </a:r>
            <a:r>
              <a:rPr lang="zh-CN" altLang="en-US" sz="2400"/>
              <a:t>、</a:t>
            </a:r>
            <a:r>
              <a:rPr lang="en-US" altLang="zh-CN" sz="2400"/>
              <a:t>batch</a:t>
            </a:r>
            <a:r>
              <a:rPr lang="zh-CN" altLang="en-US" sz="2400"/>
              <a:t>等超参数进行对比</a:t>
            </a:r>
            <a:endParaRPr lang="en-US" altLang="zh-CN" sz="24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2EF3690-FA94-8A95-3563-76662603C959}"/>
              </a:ext>
            </a:extLst>
          </p:cNvPr>
          <p:cNvSpPr txBox="1"/>
          <p:nvPr/>
        </p:nvSpPr>
        <p:spPr>
          <a:xfrm>
            <a:off x="612735" y="2915909"/>
            <a:ext cx="11933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对</a:t>
            </a:r>
            <a:r>
              <a:rPr lang="en-US" altLang="zh-CN" sz="2400"/>
              <a:t>VGG</a:t>
            </a:r>
            <a:r>
              <a:rPr lang="zh-CN" altLang="en-US" sz="2400"/>
              <a:t>、</a:t>
            </a:r>
            <a:r>
              <a:rPr lang="en-US" altLang="zh-CN" sz="2400"/>
              <a:t>GoogLeNet</a:t>
            </a:r>
            <a:r>
              <a:rPr lang="zh-CN" altLang="en-US" sz="2400"/>
              <a:t>和</a:t>
            </a:r>
            <a:r>
              <a:rPr lang="en-US" altLang="zh-CN" sz="2400"/>
              <a:t>ResNet</a:t>
            </a:r>
            <a:r>
              <a:rPr lang="zh-CN" altLang="en-US" sz="2400"/>
              <a:t>有一定的理解，但不是很深，只停留在如何使用</a:t>
            </a:r>
            <a:endParaRPr lang="en-US" altLang="zh-CN" sz="24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D04319-BD77-6902-A028-541BE9A0CCC9}"/>
              </a:ext>
            </a:extLst>
          </p:cNvPr>
          <p:cNvSpPr txBox="1"/>
          <p:nvPr/>
        </p:nvSpPr>
        <p:spPr>
          <a:xfrm>
            <a:off x="612735" y="4026405"/>
            <a:ext cx="11933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采用以上模型，完成</a:t>
            </a:r>
            <a:r>
              <a:rPr lang="en-US" altLang="zh-CN" sz="2400"/>
              <a:t>Rafd90</a:t>
            </a:r>
            <a:r>
              <a:rPr lang="zh-CN" altLang="en-US" sz="2400"/>
              <a:t>数据集的分类</a:t>
            </a:r>
            <a:endParaRPr lang="en-US" altLang="zh-CN" sz="2400"/>
          </a:p>
        </p:txBody>
      </p:sp>
    </p:spTree>
    <p:extLst>
      <p:ext uri="{BB962C8B-B14F-4D97-AF65-F5344CB8AC3E}">
        <p14:creationId xmlns:p14="http://schemas.microsoft.com/office/powerpoint/2010/main" val="2473352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FC28A40-182F-7901-694A-0A8EF94E8FA5}"/>
              </a:ext>
            </a:extLst>
          </p:cNvPr>
          <p:cNvSpPr txBox="1"/>
          <p:nvPr/>
        </p:nvSpPr>
        <p:spPr>
          <a:xfrm>
            <a:off x="751632" y="450871"/>
            <a:ext cx="2874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/>
              <a:t>CNN</a:t>
            </a:r>
            <a:r>
              <a:rPr lang="zh-CN" altLang="en-US" sz="3600"/>
              <a:t>模型结构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B1B0CAE-DCE0-86A8-D43B-4AB2268E5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2029"/>
            <a:ext cx="11365644" cy="434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70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443F98D-DBF9-C8CC-0513-C7883CA6D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42927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3CABB57-7504-4503-C082-17E9E3BE1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894" y="-1"/>
            <a:ext cx="644497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76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192AD2E-3D15-F826-BD7F-DAF4B79A8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548" y="0"/>
            <a:ext cx="5857452" cy="3302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AA38E20-FC3B-FC8E-1450-78348ED17A07}"/>
              </a:ext>
            </a:extLst>
          </p:cNvPr>
          <p:cNvSpPr txBox="1"/>
          <p:nvPr/>
        </p:nvSpPr>
        <p:spPr>
          <a:xfrm>
            <a:off x="275907" y="176937"/>
            <a:ext cx="2874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/>
              <a:t>CNN</a:t>
            </a:r>
            <a:r>
              <a:rPr lang="zh-CN" altLang="en-US" sz="3600"/>
              <a:t>模型训练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0E76218-EA0E-1C1B-0DDB-FE1542AF7471}"/>
              </a:ext>
            </a:extLst>
          </p:cNvPr>
          <p:cNvSpPr/>
          <p:nvPr/>
        </p:nvSpPr>
        <p:spPr>
          <a:xfrm>
            <a:off x="194733" y="1253067"/>
            <a:ext cx="3849615" cy="17695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DD2EAA-066E-55BC-6AAC-641F7AA20BA7}"/>
              </a:ext>
            </a:extLst>
          </p:cNvPr>
          <p:cNvSpPr txBox="1"/>
          <p:nvPr/>
        </p:nvSpPr>
        <p:spPr>
          <a:xfrm>
            <a:off x="194733" y="1466334"/>
            <a:ext cx="5426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基于</a:t>
            </a:r>
            <a:r>
              <a:rPr lang="en-US" altLang="zh-CN"/>
              <a:t>CNN</a:t>
            </a:r>
            <a:r>
              <a:rPr lang="zh-CN" altLang="en-US"/>
              <a:t>模型，模型训练</a:t>
            </a:r>
            <a:r>
              <a:rPr lang="en-US" altLang="zh-CN"/>
              <a:t>10</a:t>
            </a:r>
            <a:r>
              <a:rPr lang="zh-CN" altLang="en-US"/>
              <a:t>次，批次为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n-US" altLang="zh-CN"/>
              <a:t>lr</a:t>
            </a:r>
            <a:r>
              <a:rPr lang="zh-CN" altLang="en-US"/>
              <a:t>为</a:t>
            </a:r>
            <a:r>
              <a:rPr lang="en-US" altLang="zh-CN"/>
              <a:t>0.001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E292F1-817D-C24D-E8FE-C6CC3487FD01}"/>
              </a:ext>
            </a:extLst>
          </p:cNvPr>
          <p:cNvSpPr txBox="1"/>
          <p:nvPr/>
        </p:nvSpPr>
        <p:spPr>
          <a:xfrm>
            <a:off x="194733" y="2225701"/>
            <a:ext cx="3658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最终准确率为</a:t>
            </a:r>
            <a:r>
              <a:rPr lang="en-US" altLang="zh-CN"/>
              <a:t>0.86</a:t>
            </a:r>
            <a:r>
              <a:rPr lang="zh-CN" altLang="en-US"/>
              <a:t>，损失值为</a:t>
            </a:r>
            <a:r>
              <a:rPr lang="en-US" altLang="zh-CN"/>
              <a:t>0.324</a:t>
            </a:r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FF7DCE6E-C9B8-45EF-4997-72687B1ABC97}"/>
              </a:ext>
            </a:extLst>
          </p:cNvPr>
          <p:cNvSpPr/>
          <p:nvPr/>
        </p:nvSpPr>
        <p:spPr>
          <a:xfrm>
            <a:off x="4044348" y="1844701"/>
            <a:ext cx="2290200" cy="381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BCF95EA-2D32-70EA-701A-573166999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548" y="3429000"/>
            <a:ext cx="5857452" cy="3428999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898D778-B506-C550-C2DB-365E344C2521}"/>
              </a:ext>
            </a:extLst>
          </p:cNvPr>
          <p:cNvSpPr/>
          <p:nvPr/>
        </p:nvSpPr>
        <p:spPr>
          <a:xfrm>
            <a:off x="275907" y="4632300"/>
            <a:ext cx="3849615" cy="17695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453432E-525E-9B25-E692-14221CFF363A}"/>
              </a:ext>
            </a:extLst>
          </p:cNvPr>
          <p:cNvSpPr txBox="1"/>
          <p:nvPr/>
        </p:nvSpPr>
        <p:spPr>
          <a:xfrm>
            <a:off x="371527" y="5654698"/>
            <a:ext cx="3658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最终准确率为</a:t>
            </a:r>
            <a:r>
              <a:rPr lang="en-US" altLang="zh-CN"/>
              <a:t>0.95</a:t>
            </a:r>
            <a:r>
              <a:rPr lang="zh-CN" altLang="en-US"/>
              <a:t>，损失值为</a:t>
            </a:r>
            <a:r>
              <a:rPr lang="en-US" altLang="zh-CN"/>
              <a:t>0.145</a:t>
            </a:r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C32D0AD-FC4E-9B22-9387-BF9A6F0F9255}"/>
              </a:ext>
            </a:extLst>
          </p:cNvPr>
          <p:cNvSpPr txBox="1"/>
          <p:nvPr/>
        </p:nvSpPr>
        <p:spPr>
          <a:xfrm>
            <a:off x="374402" y="4958833"/>
            <a:ext cx="2496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800">
                <a:solidFill>
                  <a:srgbClr val="282828"/>
                </a:solidFill>
                <a:latin typeface="Microsoft YaHei"/>
              </a:rPr>
              <a:t>仅修改训练轮数为20次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E4ADB7FC-C593-F46E-B1EF-D1BB911F91AC}"/>
              </a:ext>
            </a:extLst>
          </p:cNvPr>
          <p:cNvSpPr/>
          <p:nvPr/>
        </p:nvSpPr>
        <p:spPr>
          <a:xfrm>
            <a:off x="4125521" y="5351967"/>
            <a:ext cx="2209027" cy="381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29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62088FC-59F0-240F-243C-8718437A2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933" y="862721"/>
            <a:ext cx="5628565" cy="7468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71BA9AC-94CD-E8CF-61DE-98889DBFA22D}"/>
              </a:ext>
            </a:extLst>
          </p:cNvPr>
          <p:cNvSpPr txBox="1"/>
          <p:nvPr/>
        </p:nvSpPr>
        <p:spPr>
          <a:xfrm>
            <a:off x="309773" y="287004"/>
            <a:ext cx="2874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/>
              <a:t>CNN</a:t>
            </a:r>
            <a:r>
              <a:rPr lang="zh-CN" altLang="en-US" sz="3600"/>
              <a:t>模型测试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82FD45-CF3F-1A51-56F1-B4A2D70531EC}"/>
              </a:ext>
            </a:extLst>
          </p:cNvPr>
          <p:cNvSpPr txBox="1"/>
          <p:nvPr/>
        </p:nvSpPr>
        <p:spPr>
          <a:xfrm>
            <a:off x="309773" y="1609546"/>
            <a:ext cx="4812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模型测试时，准确率仅为</a:t>
            </a:r>
            <a:r>
              <a:rPr lang="en-US" altLang="zh-CN"/>
              <a:t>0.68</a:t>
            </a:r>
            <a:r>
              <a:rPr lang="zh-CN" altLang="en-US"/>
              <a:t>，损失值为</a:t>
            </a:r>
            <a:r>
              <a:rPr lang="en-US" altLang="zh-CN"/>
              <a:t>0.942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AC3616-9A63-8076-7C98-BDC98BDC8E76}"/>
              </a:ext>
            </a:extLst>
          </p:cNvPr>
          <p:cNvSpPr txBox="1"/>
          <p:nvPr/>
        </p:nvSpPr>
        <p:spPr>
          <a:xfrm>
            <a:off x="6295707" y="1914667"/>
            <a:ext cx="274305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/>
              <a:t>模型测试和模型训练最终的结果相差有点多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138E2C7-3223-D459-4096-0FD681123A14}"/>
              </a:ext>
            </a:extLst>
          </p:cNvPr>
          <p:cNvSpPr txBox="1"/>
          <p:nvPr/>
        </p:nvSpPr>
        <p:spPr>
          <a:xfrm>
            <a:off x="309773" y="2564640"/>
            <a:ext cx="9752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/>
              <a:t>问题一：</a:t>
            </a:r>
            <a:r>
              <a:rPr lang="en-US" altLang="zh-CN" b="1"/>
              <a:t>MyCNN </a:t>
            </a:r>
            <a:r>
              <a:rPr lang="zh-CN" altLang="zh-CN" b="1"/>
              <a:t>训练集准确率达到</a:t>
            </a:r>
            <a:r>
              <a:rPr lang="en-US" altLang="zh-CN" b="1"/>
              <a:t> 0.95</a:t>
            </a:r>
            <a:r>
              <a:rPr lang="zh-CN" altLang="zh-CN" b="1"/>
              <a:t>，但测试集准确率只有</a:t>
            </a:r>
            <a:r>
              <a:rPr lang="en-US" altLang="zh-CN" b="1"/>
              <a:t> 0.68</a:t>
            </a:r>
            <a:r>
              <a:rPr lang="zh-CN" altLang="zh-CN" b="1"/>
              <a:t>，这是否属于过拟合现象？</a:t>
            </a:r>
            <a:endParaRPr lang="zh-CN" altLang="zh-CN"/>
          </a:p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4048D0A-EA5D-49BE-7558-5D625399B0CD}"/>
              </a:ext>
            </a:extLst>
          </p:cNvPr>
          <p:cNvSpPr txBox="1"/>
          <p:nvPr/>
        </p:nvSpPr>
        <p:spPr>
          <a:xfrm>
            <a:off x="309773" y="3122186"/>
            <a:ext cx="9118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原因：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当前</a:t>
            </a:r>
            <a:r>
              <a:rPr lang="en-US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MyCNN 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中全连接层参数较多，例如</a:t>
            </a:r>
            <a:r>
              <a:rPr lang="en-US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32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6 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展平后接</a:t>
            </a:r>
            <a:r>
              <a:rPr lang="en-US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Linear(1152, 572)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，这一层参数量较大，模型容易记住训练集中的细节。同时，数据预处理较简单，缺少数据增强；训练过程中也没有使用</a:t>
            </a:r>
            <a:r>
              <a:rPr lang="en-US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Dropout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weight_decay 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等正则化方法，因此模型容易过度依赖训练样本中的局部特征或偶然特征，导致测试集表现下降。</a:t>
            </a:r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B50EC9-BE51-C239-D6FC-E921B30A6283}"/>
              </a:ext>
            </a:extLst>
          </p:cNvPr>
          <p:cNvSpPr txBox="1"/>
          <p:nvPr/>
        </p:nvSpPr>
        <p:spPr>
          <a:xfrm>
            <a:off x="309773" y="4448045"/>
            <a:ext cx="62264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82828"/>
                </a:solidFill>
                <a:latin typeface="Microsoft YaHei"/>
              </a:rPr>
              <a:t>在不改变网络结构下：</a:t>
            </a:r>
          </a:p>
          <a:p>
            <a:r>
              <a:rPr sz="1800">
                <a:solidFill>
                  <a:srgbClr val="282828"/>
                </a:solidFill>
                <a:latin typeface="Microsoft YaHei"/>
              </a:rPr>
              <a:t>1、优化器加入weight_decay，在全连接层1中加入 Dropout</a:t>
            </a:r>
          </a:p>
          <a:p>
            <a:r>
              <a:rPr sz="1800">
                <a:solidFill>
                  <a:srgbClr val="282828"/>
                </a:solidFill>
                <a:latin typeface="Microsoft YaHei"/>
              </a:rPr>
              <a:t>2、训练集加入数据增强</a:t>
            </a:r>
          </a:p>
          <a:p>
            <a:r>
              <a:rPr sz="1800">
                <a:solidFill>
                  <a:srgbClr val="282828"/>
                </a:solidFill>
                <a:latin typeface="Microsoft YaHei"/>
              </a:rPr>
              <a:t>3、卷积层输出进行批量归一化</a:t>
            </a:r>
          </a:p>
          <a:p>
            <a:endParaRPr sz="1800">
              <a:solidFill>
                <a:srgbClr val="282828"/>
              </a:solidFill>
              <a:latin typeface="Microsoft YaHei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E222E11-4DEB-A48D-E94C-E36CF1934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6421" y="4511389"/>
            <a:ext cx="4322413" cy="234661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6D3F329-0BD9-B425-CC23-43E3B9E47979}"/>
              </a:ext>
            </a:extLst>
          </p:cNvPr>
          <p:cNvSpPr txBox="1"/>
          <p:nvPr/>
        </p:nvSpPr>
        <p:spPr>
          <a:xfrm>
            <a:off x="187579" y="5810613"/>
            <a:ext cx="7340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最终训练集准确率虽然不高，仅为</a:t>
            </a:r>
            <a:r>
              <a:rPr lang="en-US" altLang="zh-CN" b="1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0.67</a:t>
            </a:r>
            <a:r>
              <a:rPr lang="zh-CN" altLang="en-US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，但测试集准确率得到有效提高</a:t>
            </a:r>
            <a:endParaRPr lang="en-US" altLang="zh-CN" kern="10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          </a:t>
            </a:r>
            <a:r>
              <a:rPr lang="zh-CN" altLang="en-US" b="1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b="1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0.68</a:t>
            </a:r>
            <a:r>
              <a:rPr lang="zh-CN" altLang="en-US" b="1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提高至</a:t>
            </a:r>
            <a:r>
              <a:rPr lang="en-US" altLang="zh-CN" b="1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0.72</a:t>
            </a:r>
            <a:endParaRPr lang="zh-CN" altLang="en-US" b="1" kern="10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796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A3F5687-4DC8-CE3A-9A50-12756D17E6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133" y="0"/>
            <a:ext cx="5240867" cy="329353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8776A5D-DF87-090D-6638-A40338F02171}"/>
              </a:ext>
            </a:extLst>
          </p:cNvPr>
          <p:cNvSpPr txBox="1"/>
          <p:nvPr/>
        </p:nvSpPr>
        <p:spPr>
          <a:xfrm>
            <a:off x="275907" y="176937"/>
            <a:ext cx="2874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/>
              <a:t>CNN</a:t>
            </a:r>
            <a:r>
              <a:rPr lang="zh-CN" altLang="en-US" sz="3600"/>
              <a:t>模型训练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0F7A3DD-55A3-1FF8-F29C-EEED584763EB}"/>
              </a:ext>
            </a:extLst>
          </p:cNvPr>
          <p:cNvSpPr/>
          <p:nvPr/>
        </p:nvSpPr>
        <p:spPr>
          <a:xfrm>
            <a:off x="275907" y="983167"/>
            <a:ext cx="4122731" cy="17695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AE8A50-6E60-1226-8482-8A40525BA363}"/>
              </a:ext>
            </a:extLst>
          </p:cNvPr>
          <p:cNvSpPr txBox="1"/>
          <p:nvPr/>
        </p:nvSpPr>
        <p:spPr>
          <a:xfrm>
            <a:off x="370484" y="1165766"/>
            <a:ext cx="4028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修改学习率</a:t>
            </a:r>
            <a:r>
              <a:rPr lang="en-US" altLang="zh-CN"/>
              <a:t>lr</a:t>
            </a:r>
            <a:r>
              <a:rPr lang="zh-CN" altLang="en-US"/>
              <a:t>为</a:t>
            </a:r>
            <a:r>
              <a:rPr lang="en-US" altLang="zh-CN"/>
              <a:t>0.0001</a:t>
            </a:r>
            <a:r>
              <a:rPr lang="zh-CN" altLang="en-US"/>
              <a:t>、</a:t>
            </a:r>
            <a:r>
              <a:rPr lang="en-US" altLang="zh-CN"/>
              <a:t>Batch_size</a:t>
            </a:r>
            <a:r>
              <a:rPr lang="zh-CN" altLang="en-US"/>
              <a:t>为</a:t>
            </a:r>
            <a:r>
              <a:rPr lang="en-US" altLang="zh-CN"/>
              <a:t>20</a:t>
            </a:r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6E265F-0FA5-34AD-DAF0-CCD8DB8F2345}"/>
              </a:ext>
            </a:extLst>
          </p:cNvPr>
          <p:cNvSpPr txBox="1"/>
          <p:nvPr/>
        </p:nvSpPr>
        <p:spPr>
          <a:xfrm>
            <a:off x="426589" y="2077766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收敛效果并没有原来的好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5E33200-DF01-FE6B-53BF-D67F93BE65ED}"/>
              </a:ext>
            </a:extLst>
          </p:cNvPr>
          <p:cNvSpPr/>
          <p:nvPr/>
        </p:nvSpPr>
        <p:spPr>
          <a:xfrm>
            <a:off x="4398638" y="1591733"/>
            <a:ext cx="2209027" cy="381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1E6ECC3-BB40-5824-6CAC-65D6A0F02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066" y="3429001"/>
            <a:ext cx="4953000" cy="3429000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E705A55-781A-D09B-B029-7534A5395A56}"/>
              </a:ext>
            </a:extLst>
          </p:cNvPr>
          <p:cNvSpPr/>
          <p:nvPr/>
        </p:nvSpPr>
        <p:spPr>
          <a:xfrm>
            <a:off x="275906" y="4105300"/>
            <a:ext cx="4211427" cy="17695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567DC8E-8F4C-A085-8F0D-967E8D71BA49}"/>
              </a:ext>
            </a:extLst>
          </p:cNvPr>
          <p:cNvSpPr txBox="1"/>
          <p:nvPr/>
        </p:nvSpPr>
        <p:spPr>
          <a:xfrm>
            <a:off x="323195" y="4332299"/>
            <a:ext cx="4028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修改学习率</a:t>
            </a:r>
            <a:r>
              <a:rPr lang="en-US" altLang="zh-CN"/>
              <a:t>lr</a:t>
            </a:r>
            <a:r>
              <a:rPr lang="zh-CN" altLang="en-US"/>
              <a:t>为</a:t>
            </a:r>
            <a:r>
              <a:rPr lang="en-US" altLang="zh-CN"/>
              <a:t>0.005</a:t>
            </a:r>
            <a:r>
              <a:rPr lang="zh-CN" altLang="en-US"/>
              <a:t>、</a:t>
            </a:r>
            <a:r>
              <a:rPr lang="en-US" altLang="zh-CN"/>
              <a:t>Batch_size</a:t>
            </a:r>
            <a:r>
              <a:rPr lang="zh-CN" altLang="en-US"/>
              <a:t>为</a:t>
            </a:r>
            <a:r>
              <a:rPr lang="en-US" altLang="zh-CN"/>
              <a:t>20</a:t>
            </a:r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A243190-FBFB-F37B-1FDB-9985EA949D7A}"/>
              </a:ext>
            </a:extLst>
          </p:cNvPr>
          <p:cNvSpPr txBox="1"/>
          <p:nvPr/>
        </p:nvSpPr>
        <p:spPr>
          <a:xfrm>
            <a:off x="374331" y="5103566"/>
            <a:ext cx="3478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几乎没收敛，预测结果随机猜测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4DAEA5DD-E641-1624-B994-5E163A9E82FA}"/>
              </a:ext>
            </a:extLst>
          </p:cNvPr>
          <p:cNvSpPr/>
          <p:nvPr/>
        </p:nvSpPr>
        <p:spPr>
          <a:xfrm>
            <a:off x="4487333" y="4762501"/>
            <a:ext cx="2209027" cy="381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240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C94465D-436B-6F65-A53A-79181A905ADE}"/>
              </a:ext>
            </a:extLst>
          </p:cNvPr>
          <p:cNvSpPr txBox="1"/>
          <p:nvPr/>
        </p:nvSpPr>
        <p:spPr>
          <a:xfrm>
            <a:off x="275907" y="219271"/>
            <a:ext cx="2874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/>
              <a:t>CNN</a:t>
            </a:r>
            <a:r>
              <a:rPr lang="zh-CN" altLang="en-US" sz="3600"/>
              <a:t>模型训练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979E69-85EF-DDA7-871C-2A45C302D885}"/>
              </a:ext>
            </a:extLst>
          </p:cNvPr>
          <p:cNvSpPr txBox="1"/>
          <p:nvPr/>
        </p:nvSpPr>
        <p:spPr>
          <a:xfrm>
            <a:off x="355601" y="1211704"/>
            <a:ext cx="10447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b="1"/>
              <a:t>问题</a:t>
            </a:r>
            <a:r>
              <a:rPr lang="zh-CN" altLang="en-US" b="1"/>
              <a:t>二</a:t>
            </a:r>
            <a:r>
              <a:rPr lang="zh-CN" altLang="zh-CN" b="1"/>
              <a:t>：</a:t>
            </a:r>
            <a:r>
              <a:rPr lang="zh-CN" altLang="zh-CN"/>
              <a:t>学习率设置为</a:t>
            </a:r>
            <a:r>
              <a:rPr lang="en-US" altLang="zh-CN"/>
              <a:t> 0.005</a:t>
            </a:r>
            <a:r>
              <a:rPr lang="zh-CN" altLang="zh-CN"/>
              <a:t>、</a:t>
            </a:r>
            <a:r>
              <a:rPr lang="en-US" altLang="zh-CN"/>
              <a:t>batch_size </a:t>
            </a:r>
            <a:r>
              <a:rPr lang="zh-CN" altLang="zh-CN"/>
              <a:t>设置为</a:t>
            </a:r>
            <a:r>
              <a:rPr lang="en-US" altLang="zh-CN"/>
              <a:t> 20 </a:t>
            </a:r>
            <a:r>
              <a:rPr lang="zh-CN" altLang="zh-CN"/>
              <a:t>后，</a:t>
            </a:r>
            <a:r>
              <a:rPr lang="en-US" altLang="zh-CN"/>
              <a:t>CNN </a:t>
            </a:r>
            <a:r>
              <a:rPr lang="zh-CN" altLang="zh-CN"/>
              <a:t>在</a:t>
            </a:r>
            <a:r>
              <a:rPr lang="en-US" altLang="zh-CN"/>
              <a:t> CIFAR10 </a:t>
            </a:r>
            <a:r>
              <a:rPr lang="zh-CN" altLang="zh-CN"/>
              <a:t>数据集上的训练效果很差，</a:t>
            </a:r>
            <a:r>
              <a:rPr lang="en-US" altLang="zh-CN"/>
              <a:t>loss </a:t>
            </a:r>
            <a:r>
              <a:rPr lang="zh-CN" altLang="zh-CN"/>
              <a:t>长期停留在</a:t>
            </a:r>
            <a:r>
              <a:rPr lang="en-US" altLang="zh-CN"/>
              <a:t> 2.303 </a:t>
            </a:r>
            <a:r>
              <a:rPr lang="zh-CN" altLang="zh-CN"/>
              <a:t>左右，准确率长期接近</a:t>
            </a:r>
            <a:r>
              <a:rPr lang="en-US" altLang="zh-CN"/>
              <a:t> 0.10</a:t>
            </a:r>
            <a:r>
              <a:rPr lang="zh-CN" altLang="zh-CN"/>
              <a:t>，</a:t>
            </a:r>
            <a:r>
              <a:rPr lang="en-US" altLang="zh-CN"/>
              <a:t>loss </a:t>
            </a:r>
            <a:r>
              <a:rPr lang="zh-CN" altLang="zh-CN"/>
              <a:t>曲线和准确率曲线都没有明显改善</a:t>
            </a:r>
            <a:r>
              <a:rPr lang="zh-CN" altLang="zh-CN" sz="18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4DF80F8-6BDA-8CF0-8FA2-36377ABD3CA7}"/>
              </a:ext>
            </a:extLst>
          </p:cNvPr>
          <p:cNvSpPr txBox="1"/>
          <p:nvPr/>
        </p:nvSpPr>
        <p:spPr>
          <a:xfrm>
            <a:off x="355601" y="2407336"/>
            <a:ext cx="849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原因：</a:t>
            </a:r>
            <a:r>
              <a:rPr lang="zh-CN" altLang="zh-CN"/>
              <a:t>学习率过大，导致模型参数每次更新的步长过大，训练过程难以稳定收敛。</a:t>
            </a:r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D7D848-E329-05F3-FCB9-6AFE7F4B2F45}"/>
              </a:ext>
            </a:extLst>
          </p:cNvPr>
          <p:cNvSpPr txBox="1"/>
          <p:nvPr/>
        </p:nvSpPr>
        <p:spPr>
          <a:xfrm>
            <a:off x="355601" y="3215269"/>
            <a:ext cx="112945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学习率</a:t>
            </a:r>
            <a:r>
              <a:rPr lang="en-US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lr</a:t>
            </a:r>
            <a:r>
              <a:rPr lang="zh-CN" altLang="en-US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决定模型沿负梯度方向更新的步长。若学习率合适，参数会逐步向低损失区域移动；若学习率过大，参数可能一步跨过较优位置，在损失曲面两侧反复震荡，甚至破坏前一轮刚学到的卷积特征，使模型输出趋近于平均分布，最终表现为</a:t>
            </a:r>
            <a:r>
              <a:rPr lang="en-US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loss 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不下降、准确率停留在随机水平。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47F6C66-1FE6-261F-4EF9-91198C01ED37}"/>
                  </a:ext>
                </a:extLst>
              </p:cNvPr>
              <p:cNvSpPr txBox="1"/>
              <p:nvPr/>
            </p:nvSpPr>
            <p:spPr>
              <a:xfrm>
                <a:off x="499533" y="4299239"/>
                <a:ext cx="42333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</m:oMath>
                </a14:m>
                <a:r>
                  <a:rPr lang="en-US" altLang="zh-CN"/>
                  <a:t>=</a:t>
                </a:r>
                <a:r>
                  <a:rPr lang="zh-CN" alt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smtClean="0"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𝑙𝑑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lr</m:t>
                    </m:r>
                  </m:oMath>
                </a14:m>
                <a:r>
                  <a:rPr lang="en-US" altLang="zh-CN"/>
                  <a:t>*</a:t>
                </a:r>
                <a:r>
                  <a:rPr lang="zh-CN" altLang="en-US"/>
                  <a:t>梯度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47F6C66-1FE6-261F-4EF9-91198C01E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33" y="4299239"/>
                <a:ext cx="4233334" cy="276999"/>
              </a:xfrm>
              <a:prstGeom prst="rect">
                <a:avLst/>
              </a:prstGeom>
              <a:blipFill>
                <a:blip r:embed="rId2"/>
                <a:stretch>
                  <a:fillRect l="-2017" t="-30435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F8CB6085-68C4-6B28-F9F6-7797163D1C96}"/>
              </a:ext>
            </a:extLst>
          </p:cNvPr>
          <p:cNvSpPr txBox="1"/>
          <p:nvPr/>
        </p:nvSpPr>
        <p:spPr>
          <a:xfrm>
            <a:off x="488117" y="5646296"/>
            <a:ext cx="8229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然而，</a:t>
            </a:r>
            <a:r>
              <a:rPr lang="zh-CN" altLang="zh-CN" sz="1800" b="1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学习率太小也不行，存在收敛慢问题。只训练</a:t>
            </a:r>
            <a:r>
              <a:rPr lang="en-US" altLang="zh-CN" sz="1800" b="1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sz="1800" b="1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次，收敛不到最佳。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324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B05F16B-047C-387F-90BD-40D9053469D9}"/>
              </a:ext>
            </a:extLst>
          </p:cNvPr>
          <p:cNvSpPr txBox="1"/>
          <p:nvPr/>
        </p:nvSpPr>
        <p:spPr>
          <a:xfrm>
            <a:off x="751632" y="450871"/>
            <a:ext cx="28704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/>
              <a:t>VGG</a:t>
            </a:r>
            <a:r>
              <a:rPr lang="zh-CN" altLang="en-US" sz="3600"/>
              <a:t>模型结构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D6D9786-9F3C-4F46-0AC5-AF39CD9AF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32" y="1181099"/>
            <a:ext cx="9508067" cy="475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252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6AD234C-18A4-93BB-93B8-1EA723F4B769}"/>
              </a:ext>
            </a:extLst>
          </p:cNvPr>
          <p:cNvSpPr txBox="1"/>
          <p:nvPr/>
        </p:nvSpPr>
        <p:spPr>
          <a:xfrm>
            <a:off x="369040" y="329337"/>
            <a:ext cx="28704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/>
              <a:t>VGG</a:t>
            </a:r>
            <a:r>
              <a:rPr lang="zh-CN" altLang="en-US" sz="3600"/>
              <a:t>模型训练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CB446E-2257-13D2-ECDE-C2B5DAC39FDD}"/>
              </a:ext>
            </a:extLst>
          </p:cNvPr>
          <p:cNvSpPr txBox="1"/>
          <p:nvPr/>
        </p:nvSpPr>
        <p:spPr>
          <a:xfrm>
            <a:off x="369040" y="1507067"/>
            <a:ext cx="6747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在最初的</a:t>
            </a:r>
            <a:r>
              <a:rPr lang="en-US" altLang="zh-CN"/>
              <a:t>VGG</a:t>
            </a:r>
            <a:r>
              <a:rPr lang="zh-CN" altLang="en-US"/>
              <a:t>模型结构搭建时，忽略了</a:t>
            </a:r>
            <a:r>
              <a:rPr lang="en-US" altLang="zh-CN"/>
              <a:t>BN</a:t>
            </a:r>
            <a:r>
              <a:rPr lang="zh-CN" altLang="en-US"/>
              <a:t>。导致模型并没有收敛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5AFBE4-B03A-2074-E537-68D68A188F7A}"/>
              </a:ext>
            </a:extLst>
          </p:cNvPr>
          <p:cNvSpPr txBox="1"/>
          <p:nvPr/>
        </p:nvSpPr>
        <p:spPr>
          <a:xfrm>
            <a:off x="369040" y="2407798"/>
            <a:ext cx="112300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主要原因：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原始</a:t>
            </a:r>
            <a:r>
              <a:rPr lang="en-US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VGGNet 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结构中每个卷积块主要由</a:t>
            </a:r>
            <a:r>
              <a:rPr lang="en-US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Conv2d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ReLU 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MaxPool2d 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组成，没有使用</a:t>
            </a:r>
            <a:r>
              <a:rPr lang="en-US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BatchNorm2d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。由于网络较深，卷积层较多，从零开始训练时，各层输入分布会随着前面参数更新不断变化，导致后面层需要不断适应新的特征分布，训练过程不稳定。</a:t>
            </a:r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9C699C-D6D0-BB8C-6B47-FF285FBF4609}"/>
              </a:ext>
            </a:extLst>
          </p:cNvPr>
          <p:cNvSpPr txBox="1"/>
          <p:nvPr/>
        </p:nvSpPr>
        <p:spPr>
          <a:xfrm>
            <a:off x="369039" y="3862527"/>
            <a:ext cx="110694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82828"/>
                </a:solidFill>
                <a:latin typeface="Microsoft YaHei"/>
              </a:rPr>
              <a:t>BN的作用不是直接增加模型表达能力，而是改善参数优化过程，使梯度传播更稳定，允许网络更容易训练，并减少对初始化和学习率的敏感性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119EC2-5204-DFD8-36BA-C71C01301B19}"/>
              </a:ext>
            </a:extLst>
          </p:cNvPr>
          <p:cNvSpPr/>
          <p:nvPr/>
        </p:nvSpPr>
        <p:spPr>
          <a:xfrm>
            <a:off x="1143000" y="4809067"/>
            <a:ext cx="1041400" cy="148166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卷积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55105C-9B6C-3FE5-90D3-6F461375D612}"/>
              </a:ext>
            </a:extLst>
          </p:cNvPr>
          <p:cNvSpPr/>
          <p:nvPr/>
        </p:nvSpPr>
        <p:spPr>
          <a:xfrm>
            <a:off x="2460573" y="4809067"/>
            <a:ext cx="1041400" cy="148166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激活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A6D9FDE-6849-B7A2-748C-DE664C8927EC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2184400" y="5549900"/>
            <a:ext cx="276173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33A3A36F-B602-2AD4-A5EF-873D8A469FB3}"/>
              </a:ext>
            </a:extLst>
          </p:cNvPr>
          <p:cNvSpPr/>
          <p:nvPr/>
        </p:nvSpPr>
        <p:spPr>
          <a:xfrm>
            <a:off x="6350000" y="4809067"/>
            <a:ext cx="1041400" cy="148166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卷积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A50C01-6EA6-0BE7-443B-1E4FAE6B0929}"/>
              </a:ext>
            </a:extLst>
          </p:cNvPr>
          <p:cNvSpPr/>
          <p:nvPr/>
        </p:nvSpPr>
        <p:spPr>
          <a:xfrm>
            <a:off x="7676040" y="4809067"/>
            <a:ext cx="1041400" cy="148166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BN</a:t>
            </a:r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5BEED53-B7DB-C8E5-D943-05CCE9383109}"/>
              </a:ext>
            </a:extLst>
          </p:cNvPr>
          <p:cNvCxnSpPr/>
          <p:nvPr/>
        </p:nvCxnSpPr>
        <p:spPr>
          <a:xfrm>
            <a:off x="7399867" y="5520267"/>
            <a:ext cx="276173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749113A-D7F4-0D18-79AA-FE6C8C1C2897}"/>
              </a:ext>
            </a:extLst>
          </p:cNvPr>
          <p:cNvCxnSpPr/>
          <p:nvPr/>
        </p:nvCxnSpPr>
        <p:spPr>
          <a:xfrm>
            <a:off x="8717440" y="5516034"/>
            <a:ext cx="276173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0C9E6F50-49DC-9242-B8EB-54299FC72D30}"/>
              </a:ext>
            </a:extLst>
          </p:cNvPr>
          <p:cNvSpPr/>
          <p:nvPr/>
        </p:nvSpPr>
        <p:spPr>
          <a:xfrm>
            <a:off x="9002080" y="4809067"/>
            <a:ext cx="1041400" cy="148166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激活</a:t>
            </a:r>
          </a:p>
        </p:txBody>
      </p:sp>
    </p:spTree>
    <p:extLst>
      <p:ext uri="{BB962C8B-B14F-4D97-AF65-F5344CB8AC3E}">
        <p14:creationId xmlns:p14="http://schemas.microsoft.com/office/powerpoint/2010/main" val="3252142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7E5AA61-DEC6-5BC4-35A8-E22C85348B4E}"/>
              </a:ext>
            </a:extLst>
          </p:cNvPr>
          <p:cNvSpPr txBox="1"/>
          <p:nvPr/>
        </p:nvSpPr>
        <p:spPr>
          <a:xfrm>
            <a:off x="369040" y="329337"/>
            <a:ext cx="42554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/>
              <a:t>VGG</a:t>
            </a:r>
            <a:r>
              <a:rPr lang="zh-CN" altLang="en-US" sz="3600"/>
              <a:t>模型训练与测试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B2BE4C-FB3A-47DB-8C2E-C5541AB8E5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533" y="0"/>
            <a:ext cx="5647267" cy="476673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E0B7D05-AEA9-6DBD-8197-F327A32BB435}"/>
              </a:ext>
            </a:extLst>
          </p:cNvPr>
          <p:cNvSpPr txBox="1"/>
          <p:nvPr/>
        </p:nvSpPr>
        <p:spPr>
          <a:xfrm>
            <a:off x="369040" y="1507067"/>
            <a:ext cx="4078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模型训练：训练</a:t>
            </a:r>
            <a:r>
              <a:rPr lang="en-US" altLang="zh-CN"/>
              <a:t>10</a:t>
            </a:r>
            <a:r>
              <a:rPr lang="zh-CN" altLang="en-US"/>
              <a:t>次，学习率</a:t>
            </a:r>
            <a:r>
              <a:rPr lang="en-US" altLang="zh-CN"/>
              <a:t>lr</a:t>
            </a:r>
            <a:r>
              <a:rPr lang="zh-CN" altLang="en-US"/>
              <a:t>：</a:t>
            </a:r>
            <a:r>
              <a:rPr lang="en-US" altLang="zh-CN"/>
              <a:t>0.001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A03A889-2200-C128-A747-0258064165E7}"/>
              </a:ext>
            </a:extLst>
          </p:cNvPr>
          <p:cNvSpPr txBox="1"/>
          <p:nvPr/>
        </p:nvSpPr>
        <p:spPr>
          <a:xfrm>
            <a:off x="369040" y="2198700"/>
            <a:ext cx="3775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最终准确率为</a:t>
            </a:r>
            <a:r>
              <a:rPr lang="en-US" altLang="zh-CN"/>
              <a:t>0.85</a:t>
            </a:r>
            <a:r>
              <a:rPr lang="zh-CN" altLang="en-US"/>
              <a:t>，损失值为</a:t>
            </a:r>
            <a:r>
              <a:rPr lang="en-US" altLang="zh-CN"/>
              <a:t>0.4149</a:t>
            </a:r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C5D8D9-8E95-3D76-DD88-C65B22D3F011}"/>
              </a:ext>
            </a:extLst>
          </p:cNvPr>
          <p:cNvSpPr txBox="1"/>
          <p:nvPr/>
        </p:nvSpPr>
        <p:spPr>
          <a:xfrm>
            <a:off x="369040" y="4981601"/>
            <a:ext cx="4467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模型测试：准确率为</a:t>
            </a:r>
            <a:r>
              <a:rPr lang="en-US" altLang="zh-CN"/>
              <a:t>0.836</a:t>
            </a:r>
            <a:r>
              <a:rPr lang="zh-CN" altLang="en-US"/>
              <a:t>，损失值为</a:t>
            </a:r>
            <a:r>
              <a:rPr lang="en-US" altLang="zh-CN"/>
              <a:t>0.481</a:t>
            </a:r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58F15D7-A8E5-8A04-3773-94AE134A8E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504" y="5063067"/>
            <a:ext cx="5657296" cy="71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280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FC79962-8E0E-5A8B-EB88-80E0EE973001}"/>
              </a:ext>
            </a:extLst>
          </p:cNvPr>
          <p:cNvSpPr txBox="1"/>
          <p:nvPr/>
        </p:nvSpPr>
        <p:spPr>
          <a:xfrm>
            <a:off x="243632" y="222271"/>
            <a:ext cx="66626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/>
              <a:t>GoogLeNet(inceptionV2)</a:t>
            </a:r>
            <a:r>
              <a:rPr lang="zh-CN" altLang="en-US" sz="3600"/>
              <a:t>模型结构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D4D3574-DBCD-F5E4-8ACA-FEEB221C5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97" y="1186946"/>
            <a:ext cx="9253068" cy="448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836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69AE20B-34ED-DE16-2103-3192BE55E181}"/>
              </a:ext>
            </a:extLst>
          </p:cNvPr>
          <p:cNvSpPr txBox="1"/>
          <p:nvPr/>
        </p:nvSpPr>
        <p:spPr>
          <a:xfrm>
            <a:off x="243632" y="222271"/>
            <a:ext cx="66626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/>
              <a:t>GoogLeNet(inceptionV2)</a:t>
            </a:r>
            <a:r>
              <a:rPr lang="zh-CN" altLang="en-US" sz="3600"/>
              <a:t>模型结构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B0E181-BD6E-CFB4-D009-C8D44228ABF1}"/>
              </a:ext>
            </a:extLst>
          </p:cNvPr>
          <p:cNvSpPr txBox="1"/>
          <p:nvPr/>
        </p:nvSpPr>
        <p:spPr>
          <a:xfrm>
            <a:off x="243632" y="1513470"/>
            <a:ext cx="10769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2000" b="1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问题三：</a:t>
            </a:r>
            <a:r>
              <a:rPr lang="en-US" altLang="zh-CN" sz="2000" b="1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GoogLeNet </a:t>
            </a:r>
            <a:r>
              <a:rPr lang="zh-CN" altLang="zh-CN" sz="2000" b="1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000" b="1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Inception </a:t>
            </a:r>
            <a:r>
              <a:rPr lang="zh-CN" altLang="zh-CN" sz="2000" b="1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块通常不会改变输入特征图的高和宽，而是通过多分支卷积和池化结构提取不同尺度的特征，最后在通道维度上进行拼接。表现为保持</a:t>
            </a:r>
            <a:r>
              <a:rPr lang="en-US" altLang="zh-CN" sz="2000" b="1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H</a:t>
            </a:r>
            <a:r>
              <a:rPr lang="zh-CN" altLang="zh-CN" sz="2000" b="1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sz="2000" b="1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 </a:t>
            </a:r>
            <a:r>
              <a:rPr lang="zh-CN" altLang="zh-CN" sz="2000" b="1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基本不变，而改变输出通道数。所以是不是意味着提取的特征越多，最终模型效果一定越好？</a:t>
            </a:r>
            <a:endParaRPr lang="zh-CN" altLang="zh-CN" sz="20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743446-D19B-8738-CDCC-EFA08FED5722}"/>
              </a:ext>
            </a:extLst>
          </p:cNvPr>
          <p:cNvSpPr txBox="1"/>
          <p:nvPr/>
        </p:nvSpPr>
        <p:spPr>
          <a:xfrm>
            <a:off x="243632" y="3971205"/>
            <a:ext cx="1076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理解：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通道数增加通常意味着模型可以表达更多类型的特征，例如边缘、纹理、局部结构和不同尺度的语义信息，因此在一定范围内有助于提升模型表达能力。但是，通道数并不是越多越好。通道数过多会显著增加参数量和计算量，使模型训练更慢，也更容易在数据量不足时过拟合；同时，冗余通道可能学习到重复或无效特征，未必带来准确率提升。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881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DAF0B29-A032-1E3A-3BB0-34C1D13699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266" y="0"/>
            <a:ext cx="5020733" cy="339410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814ADED-F6CA-A20E-8F8D-4730871E0F90}"/>
              </a:ext>
            </a:extLst>
          </p:cNvPr>
          <p:cNvSpPr txBox="1"/>
          <p:nvPr/>
        </p:nvSpPr>
        <p:spPr>
          <a:xfrm>
            <a:off x="326706" y="244671"/>
            <a:ext cx="55153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/>
              <a:t>GoogLeNet</a:t>
            </a:r>
            <a:r>
              <a:rPr lang="zh-CN" altLang="en-US" sz="3600"/>
              <a:t>模型训练与测试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A33C5D3-1E00-264D-6EBE-1909948840C1}"/>
              </a:ext>
            </a:extLst>
          </p:cNvPr>
          <p:cNvSpPr/>
          <p:nvPr/>
        </p:nvSpPr>
        <p:spPr>
          <a:xfrm>
            <a:off x="377391" y="1163950"/>
            <a:ext cx="4506415" cy="17695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A125B4-F729-E5FD-79BE-CD56025F4CC5}"/>
              </a:ext>
            </a:extLst>
          </p:cNvPr>
          <p:cNvSpPr txBox="1"/>
          <p:nvPr/>
        </p:nvSpPr>
        <p:spPr>
          <a:xfrm>
            <a:off x="338708" y="1446252"/>
            <a:ext cx="4603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训练次数为</a:t>
            </a:r>
            <a:r>
              <a:rPr lang="en-US" altLang="zh-CN"/>
              <a:t>10</a:t>
            </a:r>
            <a:r>
              <a:rPr lang="zh-CN" altLang="en-US"/>
              <a:t>次，</a:t>
            </a:r>
            <a:r>
              <a:rPr lang="en-US" altLang="zh-CN"/>
              <a:t>lr</a:t>
            </a:r>
            <a:r>
              <a:rPr lang="zh-CN" altLang="en-US"/>
              <a:t>为</a:t>
            </a:r>
            <a:r>
              <a:rPr lang="en-US" altLang="zh-CN"/>
              <a:t>0.001</a:t>
            </a:r>
            <a:r>
              <a:rPr lang="zh-CN" altLang="en-US"/>
              <a:t>，</a:t>
            </a:r>
            <a:r>
              <a:rPr lang="en-US" altLang="zh-CN"/>
              <a:t>batch_size</a:t>
            </a:r>
            <a:r>
              <a:rPr lang="zh-CN" altLang="en-US"/>
              <a:t>为</a:t>
            </a:r>
            <a:r>
              <a:rPr lang="en-US" altLang="zh-CN"/>
              <a:t>64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C74D1B-0E3D-2994-3AFC-E963A67B864B}"/>
              </a:ext>
            </a:extLst>
          </p:cNvPr>
          <p:cNvSpPr txBox="1"/>
          <p:nvPr/>
        </p:nvSpPr>
        <p:spPr>
          <a:xfrm>
            <a:off x="564655" y="2186168"/>
            <a:ext cx="3892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最终准确率为</a:t>
            </a:r>
            <a:r>
              <a:rPr lang="en-US" altLang="zh-CN"/>
              <a:t>0.999</a:t>
            </a:r>
            <a:r>
              <a:rPr lang="zh-CN" altLang="en-US"/>
              <a:t>，损失值为</a:t>
            </a:r>
            <a:r>
              <a:rPr lang="en-US" altLang="zh-CN"/>
              <a:t>0.0225</a:t>
            </a:r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BB58519A-4362-6A9B-A7E2-6DAFF388401F}"/>
              </a:ext>
            </a:extLst>
          </p:cNvPr>
          <p:cNvSpPr/>
          <p:nvPr/>
        </p:nvSpPr>
        <p:spPr>
          <a:xfrm>
            <a:off x="4893733" y="1810376"/>
            <a:ext cx="2209027" cy="381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61A2AD8-CC10-38AB-65D6-8A8C428679DA}"/>
              </a:ext>
            </a:extLst>
          </p:cNvPr>
          <p:cNvSpPr/>
          <p:nvPr/>
        </p:nvSpPr>
        <p:spPr>
          <a:xfrm>
            <a:off x="387319" y="4666625"/>
            <a:ext cx="4929554" cy="5810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9CFAB41-1BB5-B609-883D-B398B56BB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689" y="4666625"/>
            <a:ext cx="5274310" cy="58102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213E583-C874-D1F9-B494-D44CD30C561E}"/>
              </a:ext>
            </a:extLst>
          </p:cNvPr>
          <p:cNvSpPr txBox="1"/>
          <p:nvPr/>
        </p:nvSpPr>
        <p:spPr>
          <a:xfrm>
            <a:off x="387318" y="4772471"/>
            <a:ext cx="4929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模型测试时，准确率高达</a:t>
            </a:r>
            <a:r>
              <a:rPr lang="en-US" altLang="zh-CN"/>
              <a:t>0.944</a:t>
            </a:r>
            <a:r>
              <a:rPr lang="zh-CN" altLang="en-US"/>
              <a:t>，损失值为</a:t>
            </a:r>
            <a:r>
              <a:rPr lang="en-US" altLang="zh-CN"/>
              <a:t>0.161</a:t>
            </a:r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78D7B74-9613-5EAC-613B-8B6A8B82641F}"/>
              </a:ext>
            </a:extLst>
          </p:cNvPr>
          <p:cNvSpPr txBox="1"/>
          <p:nvPr/>
        </p:nvSpPr>
        <p:spPr>
          <a:xfrm>
            <a:off x="1763458" y="5869352"/>
            <a:ext cx="5929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/>
              <a:t>模型效果过于理想，需要进一步检查数据划分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CCDCBC2B-EAF9-D776-197B-E8596168573F}"/>
              </a:ext>
            </a:extLst>
          </p:cNvPr>
          <p:cNvSpPr/>
          <p:nvPr/>
        </p:nvSpPr>
        <p:spPr>
          <a:xfrm>
            <a:off x="5316874" y="4760803"/>
            <a:ext cx="1558256" cy="381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150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E2610A4-099C-75BA-B122-DD32512F3E74}"/>
              </a:ext>
            </a:extLst>
          </p:cNvPr>
          <p:cNvSpPr txBox="1"/>
          <p:nvPr/>
        </p:nvSpPr>
        <p:spPr>
          <a:xfrm>
            <a:off x="423332" y="1389502"/>
            <a:ext cx="111336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2000" b="1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zh-CN" altLang="en-US" sz="2000" b="1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四</a:t>
            </a:r>
            <a:r>
              <a:rPr lang="zh-CN" altLang="zh-CN" sz="2000" b="1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：训练与测试准确率都非常高，训练准确率接近</a:t>
            </a:r>
            <a:r>
              <a:rPr lang="en-US" altLang="zh-CN" sz="2000" b="1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0.99</a:t>
            </a:r>
            <a:r>
              <a:rPr lang="zh-CN" altLang="zh-CN" sz="2000" b="1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，测试准确率约为</a:t>
            </a:r>
            <a:r>
              <a:rPr lang="en-US" altLang="zh-CN" sz="2000" b="1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0.96</a:t>
            </a:r>
            <a:r>
              <a:rPr lang="zh-CN" altLang="zh-CN" sz="2000" b="1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，损失非常低。</a:t>
            </a:r>
            <a:r>
              <a:rPr lang="en-US" altLang="zh-CN" sz="2000" b="1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GoogLeNet</a:t>
            </a:r>
            <a:r>
              <a:rPr lang="zh-CN" altLang="zh-CN" sz="2000" b="1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模型是否真的具有这么强的性能？是否可能存在训练集和测试集之间的数据泄露或高度相似样本重叠？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1D97C0-53D5-D6BB-15C3-0B87D91DD06F}"/>
              </a:ext>
            </a:extLst>
          </p:cNvPr>
          <p:cNvSpPr txBox="1"/>
          <p:nvPr/>
        </p:nvSpPr>
        <p:spPr>
          <a:xfrm>
            <a:off x="326706" y="244671"/>
            <a:ext cx="55153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/>
              <a:t>GoogLeNet</a:t>
            </a:r>
            <a:r>
              <a:rPr lang="zh-CN" altLang="en-US" sz="3600"/>
              <a:t>模型训练与测试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FC14A6-B2EE-CD25-7016-7A0AA37421CC}"/>
              </a:ext>
            </a:extLst>
          </p:cNvPr>
          <p:cNvSpPr txBox="1"/>
          <p:nvPr/>
        </p:nvSpPr>
        <p:spPr>
          <a:xfrm>
            <a:off x="423332" y="2814642"/>
            <a:ext cx="105240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可能原因：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当前数据集采用</a:t>
            </a:r>
            <a:r>
              <a:rPr lang="en-US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random_split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按图片随机划分训练集和测试集。但</a:t>
            </a:r>
            <a:r>
              <a:rPr lang="en-US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Rafd90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数据集中，同一个人物在同一种表情下通常包含</a:t>
            </a:r>
            <a:r>
              <a:rPr lang="en-US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frontal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left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right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等多个角度图像，这些图像之间差异较小。如果随机划分时，同一人物同一表情的不同角度图片分别进入训练集和测试集，模型在测试阶段看到的并不是完全陌生的样本，而是与训练集高度相似的人脸和表情。因此，测试集准确率可能偏高，不能完全代表模型对陌生个体表情识别的真实泛化能力。</a:t>
            </a:r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FA3EFD7-2AD8-B1C7-9310-316B517C0EB6}"/>
              </a:ext>
            </a:extLst>
          </p:cNvPr>
          <p:cNvSpPr txBox="1"/>
          <p:nvPr/>
        </p:nvSpPr>
        <p:spPr>
          <a:xfrm>
            <a:off x="550329" y="5665569"/>
            <a:ext cx="10634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测试集准确率下降到约 </a:t>
            </a:r>
            <a:r>
              <a:rPr lang="zh-CN" altLang="en-US">
                <a:solidFill>
                  <a:schemeClr val="accent1"/>
                </a:solidFill>
              </a:rPr>
              <a:t>0.8</a:t>
            </a:r>
            <a:r>
              <a:rPr lang="en-US" altLang="zh-CN">
                <a:solidFill>
                  <a:schemeClr val="accent1"/>
                </a:solidFill>
              </a:rPr>
              <a:t>1</a:t>
            </a:r>
            <a:r>
              <a:rPr lang="zh-CN" altLang="en-US"/>
              <a:t>，说明原随机划分测试结果存在一定相似样本重叠带来的偏高问题。</a:t>
            </a:r>
            <a:endParaRPr lang="en-US" altLang="zh-CN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8566648-B2C5-8114-3268-0F312B9A2DCB}"/>
              </a:ext>
            </a:extLst>
          </p:cNvPr>
          <p:cNvSpPr txBox="1"/>
          <p:nvPr/>
        </p:nvSpPr>
        <p:spPr>
          <a:xfrm>
            <a:off x="550330" y="4906833"/>
            <a:ext cx="96520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针对这个问题采用</a:t>
            </a:r>
            <a:r>
              <a:rPr lang="zh-CN" altLang="zh-CN">
                <a:solidFill>
                  <a:schemeClr val="accent1"/>
                </a:solidFill>
              </a:rPr>
              <a:t>属性组合划分</a:t>
            </a:r>
            <a:r>
              <a:rPr lang="zh-CN" altLang="zh-CN"/>
              <a:t>来训练和测试</a:t>
            </a:r>
            <a:r>
              <a:rPr lang="zh-CN" altLang="en-US"/>
              <a:t>，训练集准确率仍然接近 1.00，说明模型能够充分拟合训练数据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BBB7497-7538-2066-6628-07C4B083DE45}"/>
              </a:ext>
            </a:extLst>
          </p:cNvPr>
          <p:cNvSpPr txBox="1"/>
          <p:nvPr/>
        </p:nvSpPr>
        <p:spPr>
          <a:xfrm>
            <a:off x="550329" y="6168027"/>
            <a:ext cx="8661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新的划分方式更严格，能够更真实地评估模型对未见过人物的泛化能力。</a:t>
            </a:r>
          </a:p>
        </p:txBody>
      </p:sp>
    </p:spTree>
    <p:extLst>
      <p:ext uri="{BB962C8B-B14F-4D97-AF65-F5344CB8AC3E}">
        <p14:creationId xmlns:p14="http://schemas.microsoft.com/office/powerpoint/2010/main" val="1584210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A1B5F1-5D08-DACC-5BB3-93EEDD5B5556}"/>
              </a:ext>
            </a:extLst>
          </p:cNvPr>
          <p:cNvSpPr txBox="1"/>
          <p:nvPr/>
        </p:nvSpPr>
        <p:spPr>
          <a:xfrm>
            <a:off x="326706" y="244671"/>
            <a:ext cx="55994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/>
              <a:t>VGG</a:t>
            </a:r>
            <a:r>
              <a:rPr lang="zh-CN" altLang="en-US" sz="3600"/>
              <a:t>与</a:t>
            </a:r>
            <a:r>
              <a:rPr lang="en-US" altLang="zh-CN" sz="3600"/>
              <a:t>GoogLeNet</a:t>
            </a:r>
            <a:r>
              <a:rPr lang="zh-CN" altLang="en-US" sz="3600"/>
              <a:t>效果对比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4B86B7-DDBD-C5AC-FE5D-D370D14D98BD}"/>
              </a:ext>
            </a:extLst>
          </p:cNvPr>
          <p:cNvSpPr txBox="1"/>
          <p:nvPr/>
        </p:nvSpPr>
        <p:spPr>
          <a:xfrm>
            <a:off x="1255126" y="2355794"/>
            <a:ext cx="8705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在数据集和数据集划分方式相同的情况下，</a:t>
            </a:r>
            <a:r>
              <a:rPr lang="en-US" altLang="zh-CN"/>
              <a:t>GoogLeNet</a:t>
            </a:r>
            <a:r>
              <a:rPr lang="zh-CN" altLang="en-US"/>
              <a:t>的收敛效果显然比</a:t>
            </a:r>
            <a:r>
              <a:rPr lang="en-US" altLang="zh-CN"/>
              <a:t>VGG</a:t>
            </a:r>
            <a:r>
              <a:rPr lang="zh-CN" altLang="en-US"/>
              <a:t>还要好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2A44D67-A909-B263-A21A-DD66482068C9}"/>
              </a:ext>
            </a:extLst>
          </p:cNvPr>
          <p:cNvSpPr txBox="1"/>
          <p:nvPr/>
        </p:nvSpPr>
        <p:spPr>
          <a:xfrm>
            <a:off x="1255126" y="4000732"/>
            <a:ext cx="85370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相比</a:t>
            </a:r>
            <a:r>
              <a:rPr lang="en-US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VGG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结构，</a:t>
            </a:r>
            <a:r>
              <a:rPr lang="en-US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GoogLeNet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具有多分支</a:t>
            </a:r>
            <a:r>
              <a:rPr lang="en-US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Inception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模块，可以同时提取不同尺度的特征；同时采用</a:t>
            </a:r>
            <a:r>
              <a:rPr lang="en-US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AdaptiveAvgPool2d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和较小的全连接层，参数量比</a:t>
            </a:r>
            <a:r>
              <a:rPr lang="en-US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VGG</a:t>
            </a:r>
            <a:r>
              <a:rPr lang="zh-CN" altLang="zh-CN" sz="180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的大规模全连接层更少，训练速度更快，显存占用更低。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147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CEB2562-7410-7A4F-E846-1A320E98DF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33" y="1237074"/>
            <a:ext cx="9719733" cy="512985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A590FDB-6646-DA56-DB91-74259B04EE8E}"/>
              </a:ext>
            </a:extLst>
          </p:cNvPr>
          <p:cNvSpPr txBox="1"/>
          <p:nvPr/>
        </p:nvSpPr>
        <p:spPr>
          <a:xfrm>
            <a:off x="751632" y="450871"/>
            <a:ext cx="3362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/>
              <a:t>ResNet</a:t>
            </a:r>
            <a:r>
              <a:rPr lang="zh-CN" altLang="en-US" sz="3600"/>
              <a:t>模型结构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D641D8E-2C48-54AA-EC53-5CA8A7DBD974}"/>
                  </a:ext>
                </a:extLst>
              </p:cNvPr>
              <p:cNvSpPr txBox="1"/>
              <p:nvPr/>
            </p:nvSpPr>
            <p:spPr>
              <a:xfrm>
                <a:off x="8918027" y="4088524"/>
                <a:ext cx="16295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D641D8E-2C48-54AA-EC53-5CA8A7DBD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027" y="4088524"/>
                <a:ext cx="1629549" cy="276999"/>
              </a:xfrm>
              <a:prstGeom prst="rect">
                <a:avLst/>
              </a:prstGeom>
              <a:blipFill>
                <a:blip r:embed="rId3"/>
                <a:stretch>
                  <a:fillRect l="-2996" r="-1124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B2380B5-8019-1688-E797-09898A74A984}"/>
                  </a:ext>
                </a:extLst>
              </p:cNvPr>
              <p:cNvSpPr txBox="1"/>
              <p:nvPr/>
            </p:nvSpPr>
            <p:spPr>
              <a:xfrm>
                <a:off x="8918026" y="4650828"/>
                <a:ext cx="18350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B2380B5-8019-1688-E797-09898A74A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026" y="4650828"/>
                <a:ext cx="1835054" cy="276999"/>
              </a:xfrm>
              <a:prstGeom prst="rect">
                <a:avLst/>
              </a:prstGeom>
              <a:blipFill>
                <a:blip r:embed="rId4"/>
                <a:stretch>
                  <a:fillRect l="-1329" t="-4444" r="-2990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8969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750A29-C3BE-B3F8-246F-BAC2736A6D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408256" y="-1634974"/>
            <a:ext cx="5047136" cy="1088531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1A28B7C-88FA-9C89-3F6B-89C34C1D385F}"/>
              </a:ext>
            </a:extLst>
          </p:cNvPr>
          <p:cNvSpPr txBox="1"/>
          <p:nvPr/>
        </p:nvSpPr>
        <p:spPr>
          <a:xfrm>
            <a:off x="489165" y="230738"/>
            <a:ext cx="3362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/>
              <a:t>ResNet</a:t>
            </a:r>
            <a:r>
              <a:rPr lang="zh-CN" altLang="en-US" sz="3600"/>
              <a:t>模型结构</a:t>
            </a:r>
          </a:p>
        </p:txBody>
      </p:sp>
    </p:spTree>
    <p:extLst>
      <p:ext uri="{BB962C8B-B14F-4D97-AF65-F5344CB8AC3E}">
        <p14:creationId xmlns:p14="http://schemas.microsoft.com/office/powerpoint/2010/main" val="23568736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FF506888-46F1-2D85-6134-3A3001912168}"/>
              </a:ext>
            </a:extLst>
          </p:cNvPr>
          <p:cNvSpPr txBox="1"/>
          <p:nvPr/>
        </p:nvSpPr>
        <p:spPr>
          <a:xfrm>
            <a:off x="369040" y="329337"/>
            <a:ext cx="4747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/>
              <a:t>ResNet</a:t>
            </a:r>
            <a:r>
              <a:rPr lang="zh-CN" altLang="en-US" sz="3600"/>
              <a:t>模型训练与测试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CC88B61-E97B-6AB5-EC7C-AC52EEA6BB84}"/>
              </a:ext>
            </a:extLst>
          </p:cNvPr>
          <p:cNvSpPr/>
          <p:nvPr/>
        </p:nvSpPr>
        <p:spPr>
          <a:xfrm>
            <a:off x="369040" y="1346200"/>
            <a:ext cx="4506415" cy="17695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ADF3E1D-4CFE-2FBB-4519-8A2EE3281F5A}"/>
              </a:ext>
            </a:extLst>
          </p:cNvPr>
          <p:cNvSpPr txBox="1"/>
          <p:nvPr/>
        </p:nvSpPr>
        <p:spPr>
          <a:xfrm>
            <a:off x="676041" y="2516368"/>
            <a:ext cx="4009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最终准确率为</a:t>
            </a:r>
            <a:r>
              <a:rPr lang="en-US" altLang="zh-CN"/>
              <a:t>0.9953</a:t>
            </a:r>
            <a:r>
              <a:rPr lang="zh-CN" altLang="en-US"/>
              <a:t>，损失值为</a:t>
            </a:r>
            <a:r>
              <a:rPr lang="en-US" altLang="zh-CN"/>
              <a:t>0.0191</a:t>
            </a:r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009C5BE-608A-A6C1-7900-EA47F8AA22A5}"/>
              </a:ext>
            </a:extLst>
          </p:cNvPr>
          <p:cNvSpPr txBox="1"/>
          <p:nvPr/>
        </p:nvSpPr>
        <p:spPr>
          <a:xfrm>
            <a:off x="369040" y="1746618"/>
            <a:ext cx="4603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训练次数为</a:t>
            </a:r>
            <a:r>
              <a:rPr lang="en-US" altLang="zh-CN"/>
              <a:t>10</a:t>
            </a:r>
            <a:r>
              <a:rPr lang="zh-CN" altLang="en-US"/>
              <a:t>次，</a:t>
            </a:r>
            <a:r>
              <a:rPr lang="en-US" altLang="zh-CN"/>
              <a:t>lr</a:t>
            </a:r>
            <a:r>
              <a:rPr lang="zh-CN" altLang="en-US"/>
              <a:t>为</a:t>
            </a:r>
            <a:r>
              <a:rPr lang="en-US" altLang="zh-CN"/>
              <a:t>0.001</a:t>
            </a:r>
            <a:r>
              <a:rPr lang="zh-CN" altLang="en-US"/>
              <a:t>，</a:t>
            </a:r>
            <a:r>
              <a:rPr lang="en-US" altLang="zh-CN"/>
              <a:t>batch_size</a:t>
            </a:r>
            <a:r>
              <a:rPr lang="zh-CN" altLang="en-US"/>
              <a:t>为</a:t>
            </a:r>
            <a:r>
              <a:rPr lang="en-US" altLang="zh-CN"/>
              <a:t>64</a:t>
            </a:r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6621BE20-0C1C-84EF-3F22-0C7377DEE0B4}"/>
              </a:ext>
            </a:extLst>
          </p:cNvPr>
          <p:cNvSpPr/>
          <p:nvPr/>
        </p:nvSpPr>
        <p:spPr>
          <a:xfrm>
            <a:off x="4875455" y="2054329"/>
            <a:ext cx="1912191" cy="381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75EBAF4-045B-4B01-163D-4D6D4AD2211A}"/>
              </a:ext>
            </a:extLst>
          </p:cNvPr>
          <p:cNvSpPr/>
          <p:nvPr/>
        </p:nvSpPr>
        <p:spPr>
          <a:xfrm>
            <a:off x="339334" y="5390620"/>
            <a:ext cx="4929554" cy="5810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68ADC8A-E686-046C-44CE-BDAE602B081C}"/>
              </a:ext>
            </a:extLst>
          </p:cNvPr>
          <p:cNvSpPr txBox="1"/>
          <p:nvPr/>
        </p:nvSpPr>
        <p:spPr>
          <a:xfrm>
            <a:off x="280824" y="5511800"/>
            <a:ext cx="5046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模型测试时，准确率高达</a:t>
            </a:r>
            <a:r>
              <a:rPr lang="en-US" altLang="zh-CN"/>
              <a:t>0.9969</a:t>
            </a:r>
            <a:r>
              <a:rPr lang="zh-CN" altLang="en-US"/>
              <a:t>，损失值为</a:t>
            </a:r>
            <a:r>
              <a:rPr lang="en-US" altLang="zh-CN"/>
              <a:t>0.176</a:t>
            </a:r>
            <a:endParaRPr lang="zh-CN" altLang="en-US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C8BFCCCB-63BE-CAA6-23C8-5C4DF9561BC1}"/>
              </a:ext>
            </a:extLst>
          </p:cNvPr>
          <p:cNvSpPr/>
          <p:nvPr/>
        </p:nvSpPr>
        <p:spPr>
          <a:xfrm>
            <a:off x="5268889" y="5453069"/>
            <a:ext cx="1683932" cy="381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D4C015C-49AB-CF67-A302-F83736750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646" y="162342"/>
            <a:ext cx="5356372" cy="416497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8EA4EB1-61C5-0B9A-0548-001D79336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821" y="5132444"/>
            <a:ext cx="4756579" cy="109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81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B26F5B5-5910-2743-4F24-B1AFAAF24AB6}"/>
              </a:ext>
            </a:extLst>
          </p:cNvPr>
          <p:cNvSpPr txBox="1"/>
          <p:nvPr/>
        </p:nvSpPr>
        <p:spPr>
          <a:xfrm>
            <a:off x="369040" y="329337"/>
            <a:ext cx="4747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/>
              <a:t>ResNet</a:t>
            </a:r>
            <a:r>
              <a:rPr lang="zh-CN" altLang="en-US" sz="3600"/>
              <a:t>模型训练与测试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7EB32DB-4DE1-DDB4-4498-76A3C16F5C29}"/>
              </a:ext>
            </a:extLst>
          </p:cNvPr>
          <p:cNvSpPr/>
          <p:nvPr/>
        </p:nvSpPr>
        <p:spPr>
          <a:xfrm>
            <a:off x="369040" y="1346200"/>
            <a:ext cx="4506415" cy="17695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F826597-2736-526D-49AF-E49F71C51608}"/>
              </a:ext>
            </a:extLst>
          </p:cNvPr>
          <p:cNvSpPr txBox="1"/>
          <p:nvPr/>
        </p:nvSpPr>
        <p:spPr>
          <a:xfrm>
            <a:off x="369040" y="1746618"/>
            <a:ext cx="4603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训练次数为</a:t>
            </a:r>
            <a:r>
              <a:rPr lang="en-US" altLang="zh-CN"/>
              <a:t>10</a:t>
            </a:r>
            <a:r>
              <a:rPr lang="zh-CN" altLang="en-US"/>
              <a:t>次，</a:t>
            </a:r>
            <a:r>
              <a:rPr lang="en-US" altLang="zh-CN"/>
              <a:t>lr</a:t>
            </a:r>
            <a:r>
              <a:rPr lang="zh-CN" altLang="en-US"/>
              <a:t>为</a:t>
            </a:r>
            <a:r>
              <a:rPr lang="en-US" altLang="zh-CN"/>
              <a:t>0.001</a:t>
            </a:r>
            <a:r>
              <a:rPr lang="zh-CN" altLang="en-US"/>
              <a:t>，</a:t>
            </a:r>
            <a:r>
              <a:rPr lang="en-US" altLang="zh-CN"/>
              <a:t>batch_size</a:t>
            </a:r>
            <a:r>
              <a:rPr lang="zh-CN" altLang="en-US"/>
              <a:t>为</a:t>
            </a:r>
            <a:r>
              <a:rPr lang="en-US" altLang="zh-CN"/>
              <a:t>64</a:t>
            </a:r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6BC66BB-EEBE-6C89-51DF-AA1A16AC7A38}"/>
              </a:ext>
            </a:extLst>
          </p:cNvPr>
          <p:cNvSpPr txBox="1"/>
          <p:nvPr/>
        </p:nvSpPr>
        <p:spPr>
          <a:xfrm>
            <a:off x="465834" y="2516368"/>
            <a:ext cx="3892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最终准确率为</a:t>
            </a:r>
            <a:r>
              <a:rPr lang="en-US" altLang="zh-CN"/>
              <a:t>0.8141</a:t>
            </a:r>
            <a:r>
              <a:rPr lang="zh-CN" altLang="en-US"/>
              <a:t>，损失值为</a:t>
            </a:r>
            <a:r>
              <a:rPr lang="en-US" altLang="zh-CN"/>
              <a:t>0.538</a:t>
            </a:r>
            <a:endParaRPr lang="zh-CN" altLang="en-US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9CE499ED-7BB5-C142-20AA-AB9A35FFB89D}"/>
              </a:ext>
            </a:extLst>
          </p:cNvPr>
          <p:cNvSpPr/>
          <p:nvPr/>
        </p:nvSpPr>
        <p:spPr>
          <a:xfrm>
            <a:off x="4875455" y="2040466"/>
            <a:ext cx="1912191" cy="381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70D5055-45D7-1B3A-DDAC-20D02B36E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646" y="0"/>
            <a:ext cx="5432355" cy="4123239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4809E5B7-2B1B-B450-CD31-1D83977FAF63}"/>
              </a:ext>
            </a:extLst>
          </p:cNvPr>
          <p:cNvSpPr/>
          <p:nvPr/>
        </p:nvSpPr>
        <p:spPr>
          <a:xfrm>
            <a:off x="339334" y="5390620"/>
            <a:ext cx="4929554" cy="5810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13F29D0-63C9-29E1-1680-0FFCF05EA673}"/>
              </a:ext>
            </a:extLst>
          </p:cNvPr>
          <p:cNvSpPr txBox="1"/>
          <p:nvPr/>
        </p:nvSpPr>
        <p:spPr>
          <a:xfrm>
            <a:off x="280824" y="5511800"/>
            <a:ext cx="5099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模型测试时，准确率高达</a:t>
            </a:r>
            <a:r>
              <a:rPr lang="en-US" altLang="zh-CN"/>
              <a:t>0.8064</a:t>
            </a:r>
            <a:r>
              <a:rPr lang="zh-CN" altLang="en-US"/>
              <a:t>，损失值为</a:t>
            </a:r>
            <a:r>
              <a:rPr lang="en-US" altLang="zh-CN"/>
              <a:t>0. 568</a:t>
            </a:r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21426D8-489E-3672-EA3C-07A9F92B0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198" y="5426364"/>
            <a:ext cx="5720983" cy="484083"/>
          </a:xfrm>
          <a:prstGeom prst="rect">
            <a:avLst/>
          </a:prstGeom>
        </p:spPr>
      </p:pic>
      <p:sp>
        <p:nvSpPr>
          <p:cNvPr id="13" name="箭头: 右 12">
            <a:extLst>
              <a:ext uri="{FF2B5EF4-FFF2-40B4-BE49-F238E27FC236}">
                <a16:creationId xmlns:a16="http://schemas.microsoft.com/office/drawing/2014/main" id="{4B81D2FA-8C27-9B01-718A-CD1A127E40C8}"/>
              </a:ext>
            </a:extLst>
          </p:cNvPr>
          <p:cNvSpPr/>
          <p:nvPr/>
        </p:nvSpPr>
        <p:spPr>
          <a:xfrm>
            <a:off x="5268889" y="5477905"/>
            <a:ext cx="961310" cy="381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4FC4728-B866-A337-3A15-1FE3CE180A52}"/>
              </a:ext>
            </a:extLst>
          </p:cNvPr>
          <p:cNvSpPr txBox="1"/>
          <p:nvPr/>
        </p:nvSpPr>
        <p:spPr>
          <a:xfrm>
            <a:off x="634624" y="3944822"/>
            <a:ext cx="2435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数据集为</a:t>
            </a:r>
            <a:r>
              <a:rPr lang="en-US" altLang="zh-CN" sz="2400"/>
              <a:t>CIFAR10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726256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84FB8FC-0773-EC60-422D-287564F671BB}"/>
              </a:ext>
            </a:extLst>
          </p:cNvPr>
          <p:cNvSpPr txBox="1"/>
          <p:nvPr/>
        </p:nvSpPr>
        <p:spPr>
          <a:xfrm>
            <a:off x="402906" y="329337"/>
            <a:ext cx="38892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0">
                <a:solidFill>
                  <a:srgbClr val="282828"/>
                </a:solidFill>
                <a:latin typeface="Microsoft YaHei"/>
              </a:rPr>
              <a:t>三种结构效果对比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A5A5A"/>
                </a:solidFill>
                <a:latin typeface="Microsoft YaHei"/>
              </a:rPr>
              <a:t>在相同数据集任务下，对 VGG、GoogLeNet 和 ResNet 的阶段实验结果进行对比。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444752"/>
            <a:ext cx="3429000" cy="38862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1581912"/>
            <a:ext cx="3154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282828"/>
                </a:solidFill>
                <a:latin typeface="Microsoft YaHei"/>
              </a:rPr>
              <a:t>VGG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2157984"/>
            <a:ext cx="2971800" cy="18288"/>
          </a:xfrm>
          <a:prstGeom prst="rect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2286000"/>
            <a:ext cx="3099816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50" b="0">
                <a:solidFill>
                  <a:srgbClr val="282828"/>
                </a:solidFill>
                <a:latin typeface="Microsoft YaHei"/>
              </a:rPr>
              <a:t>训练：Acc 0.85 / Loss 0.4149</a:t>
            </a:r>
          </a:p>
          <a:p>
            <a:pPr algn="l">
              <a:spcAft>
                <a:spcPts val="400"/>
              </a:spcAft>
            </a:pPr>
            <a:r>
              <a:rPr sz="1750" b="0">
                <a:solidFill>
                  <a:srgbClr val="282828"/>
                </a:solidFill>
                <a:latin typeface="Microsoft YaHei"/>
              </a:rPr>
              <a:t>测试：Acc 0.836 / Loss 0.481</a:t>
            </a:r>
          </a:p>
          <a:p>
            <a:pPr algn="l">
              <a:spcAft>
                <a:spcPts val="400"/>
              </a:spcAft>
            </a:pPr>
            <a:r>
              <a:rPr sz="1750" b="0">
                <a:solidFill>
                  <a:srgbClr val="282828"/>
                </a:solidFill>
                <a:latin typeface="Microsoft YaHei"/>
              </a:rPr>
              <a:t>特点：结构清晰，加入 BN 后能够正常收敛。</a:t>
            </a:r>
          </a:p>
          <a:p>
            <a:pPr algn="l">
              <a:spcAft>
                <a:spcPts val="400"/>
              </a:spcAft>
            </a:pPr>
            <a:r>
              <a:rPr sz="1750" b="0">
                <a:solidFill>
                  <a:srgbClr val="282828"/>
                </a:solidFill>
                <a:latin typeface="Microsoft YaHei"/>
              </a:rPr>
              <a:t>不足：卷积结构较单一，参数量相对较大。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44752"/>
            <a:ext cx="3429000" cy="38862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581912"/>
            <a:ext cx="3154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282828"/>
                </a:solidFill>
                <a:latin typeface="Microsoft YaHei"/>
              </a:rPr>
              <a:t>GoogLeNet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2157984"/>
            <a:ext cx="2971800" cy="18288"/>
          </a:xfrm>
          <a:prstGeom prst="rect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2286000"/>
            <a:ext cx="3099816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50" b="0">
                <a:solidFill>
                  <a:srgbClr val="282828"/>
                </a:solidFill>
                <a:latin typeface="Microsoft YaHei"/>
              </a:rPr>
              <a:t>训练：Acc 0.999 / Loss 0.0225</a:t>
            </a:r>
          </a:p>
          <a:p>
            <a:pPr algn="l">
              <a:spcAft>
                <a:spcPts val="400"/>
              </a:spcAft>
            </a:pPr>
            <a:r>
              <a:rPr sz="1750" b="0">
                <a:solidFill>
                  <a:srgbClr val="282828"/>
                </a:solidFill>
                <a:latin typeface="Microsoft YaHei"/>
              </a:rPr>
              <a:t>测试：Acc 0.944 / Loss 0.161</a:t>
            </a:r>
          </a:p>
          <a:p>
            <a:pPr algn="l">
              <a:spcAft>
                <a:spcPts val="400"/>
              </a:spcAft>
            </a:pPr>
            <a:r>
              <a:rPr sz="1750" b="0">
                <a:solidFill>
                  <a:srgbClr val="282828"/>
                </a:solidFill>
                <a:latin typeface="Microsoft YaHei"/>
              </a:rPr>
              <a:t>特点：Inception 多分支结构能提取不同尺度特征。</a:t>
            </a:r>
          </a:p>
          <a:p>
            <a:pPr algn="l">
              <a:spcAft>
                <a:spcPts val="400"/>
              </a:spcAft>
            </a:pPr>
            <a:r>
              <a:rPr sz="1750" b="0">
                <a:solidFill>
                  <a:srgbClr val="282828"/>
                </a:solidFill>
                <a:latin typeface="Microsoft YaHei"/>
              </a:rPr>
              <a:t>观察：收敛较快，但高准确率需要结合划分方式分析。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7888" y="1444752"/>
            <a:ext cx="3429000" cy="38862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3154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282828"/>
                </a:solidFill>
                <a:latin typeface="Microsoft YaHei"/>
              </a:rPr>
              <a:t>ResNet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76488" y="2157984"/>
            <a:ext cx="2971800" cy="18288"/>
          </a:xfrm>
          <a:prstGeom prst="rect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3099816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50" b="0">
                <a:solidFill>
                  <a:srgbClr val="282828"/>
                </a:solidFill>
                <a:latin typeface="Microsoft YaHei"/>
              </a:rPr>
              <a:t>训练：Acc 0.9953 / Loss 0.0191</a:t>
            </a:r>
          </a:p>
          <a:p>
            <a:pPr algn="l">
              <a:spcAft>
                <a:spcPts val="400"/>
              </a:spcAft>
            </a:pPr>
            <a:r>
              <a:rPr sz="1750" b="0">
                <a:solidFill>
                  <a:srgbClr val="282828"/>
                </a:solidFill>
                <a:latin typeface="Microsoft YaHei"/>
              </a:rPr>
              <a:t>测试：Acc 0.9969 / Loss 0.176</a:t>
            </a:r>
          </a:p>
          <a:p>
            <a:pPr algn="l">
              <a:spcAft>
                <a:spcPts val="400"/>
              </a:spcAft>
            </a:pPr>
            <a:r>
              <a:rPr sz="1750" b="0">
                <a:solidFill>
                  <a:srgbClr val="282828"/>
                </a:solidFill>
                <a:latin typeface="Microsoft YaHei"/>
              </a:rPr>
              <a:t>特点：残差连接让深层网络更容易训练。</a:t>
            </a:r>
          </a:p>
          <a:p>
            <a:pPr algn="l">
              <a:spcAft>
                <a:spcPts val="400"/>
              </a:spcAft>
            </a:pPr>
            <a:r>
              <a:rPr sz="1750" b="0">
                <a:solidFill>
                  <a:srgbClr val="282828"/>
                </a:solidFill>
                <a:latin typeface="Microsoft YaHei"/>
              </a:rPr>
              <a:t>观察：结果过高时，需要排查相似样本重叠问题。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556427"/>
            <a:ext cx="1051560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82828"/>
                </a:solidFill>
                <a:latin typeface="Microsoft YaHei"/>
              </a:rPr>
              <a:t>阶段结论：GoogLeNet 和 ResNet 表现更好；ID 或属性组合划分验证泛化能力。</a:t>
            </a:r>
            <a:r>
              <a:rPr lang="zh-CN" altLang="en-US">
                <a:solidFill>
                  <a:srgbClr val="282828"/>
                </a:solidFill>
                <a:latin typeface="Microsoft YaHei"/>
              </a:rPr>
              <a:t>但随机划分可能导致相似样本重叠，后续需要用人物 </a:t>
            </a:r>
            <a:endParaRPr sz="1800" b="0">
              <a:solidFill>
                <a:srgbClr val="282828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96060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B54C089-4C67-CC20-888A-A1F030EB7E80}"/>
              </a:ext>
            </a:extLst>
          </p:cNvPr>
          <p:cNvSpPr txBox="1"/>
          <p:nvPr/>
        </p:nvSpPr>
        <p:spPr>
          <a:xfrm>
            <a:off x="538373" y="592667"/>
            <a:ext cx="35510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0">
                <a:solidFill>
                  <a:srgbClr val="282828"/>
                </a:solidFill>
                <a:latin typeface="Microsoft YaHei"/>
              </a:rPr>
              <a:t>下一步学习计划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2011680"/>
            <a:ext cx="530352" cy="53035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282828"/>
                </a:solidFill>
                <a:latin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901952"/>
            <a:ext cx="9372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82828"/>
                </a:solidFill>
                <a:latin typeface="Microsoft YaHei"/>
              </a:rPr>
              <a:t>规范数据划分与评估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286000"/>
            <a:ext cx="9372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82828"/>
                </a:solidFill>
                <a:latin typeface="Microsoft YaHei"/>
              </a:rPr>
              <a:t>固定随机种子，尝试按人物 ID 或属性组合划分，减少训练集和测试集中的相似样本重叠。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3383280"/>
            <a:ext cx="530352" cy="53035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282828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273552"/>
            <a:ext cx="9372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82828"/>
                </a:solidFill>
                <a:latin typeface="Microsoft YaHei"/>
              </a:rPr>
              <a:t>继续对比模型结构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657600"/>
            <a:ext cx="9372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82828"/>
                </a:solidFill>
                <a:latin typeface="Microsoft YaHei"/>
              </a:rPr>
              <a:t>在相同划分下比较 VGG、GoogLeNet、ResNet，记录准确率、损失、训练时间和参数量。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754880"/>
            <a:ext cx="530352" cy="53035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282828"/>
                </a:solidFill>
                <a:latin typeface="Microsoft Ya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645152"/>
            <a:ext cx="9372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82828"/>
                </a:solidFill>
                <a:latin typeface="Microsoft YaHei"/>
              </a:rPr>
              <a:t>整理代码与学习笔记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5029200"/>
            <a:ext cx="9372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82828"/>
                </a:solidFill>
                <a:latin typeface="Microsoft YaHei"/>
              </a:rPr>
              <a:t>补充实验曲线、问题原因和解决思路，为后续老师布置的新任务做准备。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8373" y="5881285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5A5A5A"/>
                </a:solidFill>
                <a:latin typeface="Microsoft YaHei"/>
              </a:rPr>
              <a:t>重点：不仅记录“准确率高不高”，还要说明模型为什么有效、结果是否可信。</a:t>
            </a:r>
          </a:p>
        </p:txBody>
      </p:sp>
    </p:spTree>
    <p:extLst>
      <p:ext uri="{BB962C8B-B14F-4D97-AF65-F5344CB8AC3E}">
        <p14:creationId xmlns:p14="http://schemas.microsoft.com/office/powerpoint/2010/main" val="2006531330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3204</TotalTime>
  <Words>1551</Words>
  <Application>Microsoft Office PowerPoint</Application>
  <PresentationFormat>宽屏</PresentationFormat>
  <Paragraphs>113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9" baseType="lpstr">
      <vt:lpstr>宋体</vt:lpstr>
      <vt:lpstr>Microsoft YaHei</vt:lpstr>
      <vt:lpstr>Arial</vt:lpstr>
      <vt:lpstr>Calibri</vt:lpstr>
      <vt:lpstr>Cambria Math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</dc:creator>
  <cp:lastModifiedBy>甫立 陈</cp:lastModifiedBy>
  <cp:revision>10</cp:revision>
  <dcterms:created xsi:type="dcterms:W3CDTF">2023-08-09T12:44:00Z</dcterms:created>
  <dcterms:modified xsi:type="dcterms:W3CDTF">2026-06-02T08:26:12Z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