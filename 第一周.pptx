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91" r:id="rId3"/>
    <p:sldId id="290" r:id="rId4"/>
    <p:sldId id="258" r:id="rId6"/>
    <p:sldId id="259" r:id="rId7"/>
    <p:sldId id="281" r:id="rId8"/>
    <p:sldId id="260" r:id="rId9"/>
    <p:sldId id="282" r:id="rId10"/>
    <p:sldId id="286" r:id="rId11"/>
    <p:sldId id="287" r:id="rId12"/>
    <p:sldId id="262" r:id="rId13"/>
    <p:sldId id="263" r:id="rId14"/>
    <p:sldId id="264" r:id="rId15"/>
    <p:sldId id="285" r:id="rId16"/>
    <p:sldId id="265" r:id="rId17"/>
    <p:sldId id="266" r:id="rId18"/>
    <p:sldId id="267" r:id="rId19"/>
    <p:sldId id="268" r:id="rId20"/>
    <p:sldId id="283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88" r:id="rId31"/>
    <p:sldId id="278" r:id="rId32"/>
    <p:sldId id="284" r:id="rId33"/>
    <p:sldId id="279" r:id="rId34"/>
    <p:sldId id="280" r:id="rId3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-86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5360" y="629335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>
                <a:latin typeface="微软雅黑" panose="020B0503020204020204" charset="-122"/>
              </a:rPr>
              <a:t>PyTorch / CNN
</a:t>
            </a:r>
            <a:r>
              <a:rPr lang="zh-CN" altLang="en-US" sz="2800" b="1">
                <a:latin typeface="微软雅黑" panose="020B0503020204020204" charset="-122"/>
              </a:rPr>
              <a:t>学习情况汇报</a:t>
            </a:r>
            <a:endParaRPr lang="zh-CN" altLang="en-US" sz="2800" b="1">
              <a:latin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文本框 35"/>
          <p:cNvSpPr txBox="1"/>
          <p:nvPr/>
        </p:nvSpPr>
        <p:spPr>
          <a:xfrm>
            <a:off x="4149090" y="132183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800" b="1">
                <a:latin typeface="微软雅黑" panose="020B0503020204020204" charset="-122"/>
              </a:rPr>
              <a:t>深度学习汇报</a:t>
            </a:r>
            <a:endParaRPr lang="zh-CN" altLang="en-US" sz="2800" b="1">
              <a:latin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613910" y="2707422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40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汇报人：陈甫立</a:t>
            </a:r>
            <a:endParaRPr lang="en-US" altLang="zh-CN" sz="140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140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时间：</a:t>
            </a:r>
            <a:r>
              <a:rPr lang="en-US" altLang="zh-CN" sz="140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2026/05/26</a:t>
            </a:r>
            <a:endParaRPr sz="140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任务路径</a:t>
            </a:r>
            <a:endParaRPr sz="9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810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学习内容按“概念 → 张量 → 网络 → CNN → 实践”推进。</a:t>
            </a:r>
            <a:endParaRPr sz="22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25717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762250"/>
            <a:ext cx="438150" cy="3238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" y="28384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3238500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深度学习概念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3571875"/>
            <a:ext cx="95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94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了解深度学习、张量和</a:t>
            </a:r>
            <a:r>
              <a:rPr sz="940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理解模型</a:t>
            </a:r>
            <a:endParaRPr sz="94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114550" y="3238500"/>
            <a:ext cx="552450" cy="190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762250" y="25717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952750" y="2762250"/>
            <a:ext cx="438150" cy="32385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52750" y="28384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52750" y="3238500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PyTorch基础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52750" y="3571875"/>
            <a:ext cx="95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掌握张量创建、索引和运算</a:t>
            </a:r>
            <a:endParaRPr sz="94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10050" y="3238500"/>
            <a:ext cx="552450" cy="190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857750" y="25717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048250" y="2762250"/>
            <a:ext cx="438150" cy="3238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048250" y="28384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48250" y="3238500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48250" y="3571875"/>
            <a:ext cx="95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理解层结构、激活函数和参数</a:t>
            </a:r>
            <a:endParaRPr sz="94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05550" y="3238500"/>
            <a:ext cx="552450" cy="190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953250" y="25717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143750" y="2762250"/>
            <a:ext cx="438150" cy="32385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143750" y="28384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143750" y="3238500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训练机制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143750" y="3571875"/>
            <a:ext cx="95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理解前向传播和反向传播</a:t>
            </a:r>
            <a:endParaRPr sz="94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401050" y="3238500"/>
            <a:ext cx="552450" cy="190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048750" y="2571750"/>
            <a:ext cx="1333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239250" y="2762250"/>
            <a:ext cx="438150" cy="3238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239250" y="2838450"/>
            <a:ext cx="438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39250" y="3238500"/>
            <a:ext cx="95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CNN实践</a:t>
            </a:r>
            <a:endParaRPr sz="13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239250" y="3571875"/>
            <a:ext cx="952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完成CNN结构搭建与summary检查</a:t>
            </a:r>
            <a:endParaRPr sz="94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0858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深度学习是机器学习中的一个子集，核心是自动学习特征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8954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18097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使用多层神经网络从数据中提取特征</a:t>
            </a: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44792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36220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相比传统方法，减少人工特征设计</a:t>
            </a: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0003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9146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常用于计算机视觉、自然语言处理、推荐系统和多模态模型。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7999" y="4610100"/>
            <a:ext cx="3912577" cy="160606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67550" y="4714875"/>
            <a:ext cx="1707173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r>
              <a:rPr sz="1275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阶段关注点</a:t>
            </a:r>
            <a:endParaRPr sz="12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67550" y="51435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张量概念的理解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41740" y="512445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神经网络结构理解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67550" y="54102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</a:t>
            </a:r>
            <a:r>
              <a:rPr sz="112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传播原理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67549" y="5662246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zh-CN" altLang="en-US" sz="1125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71550" y="4552951"/>
            <a:ext cx="3388322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28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zh-CN" sz="360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</a:rPr>
              <a:t>什么是深度学习</a:t>
            </a:r>
            <a:r>
              <a:rPr lang="zh-CN" altLang="en-US" sz="360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</a:rPr>
              <a:t>？</a:t>
            </a:r>
            <a:endParaRPr lang="zh-CN" altLang="zh-CN" sz="360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2677" y="1760006"/>
            <a:ext cx="5227773" cy="2469094"/>
          </a:xfrm>
          <a:prstGeom prst="rect">
            <a:avLst/>
          </a:prstGeom>
        </p:spPr>
      </p:pic>
      <p:sp>
        <p:nvSpPr>
          <p:cNvPr id="25" name="矩形 24"/>
          <p:cNvSpPr>
            <a:spLocks noGrp="1"/>
          </p:cNvSpPr>
          <p:nvPr/>
        </p:nvSpPr>
        <p:spPr>
          <a:xfrm>
            <a:off x="8641739" y="5400675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反向传播原理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lang="zh-CN" altLang="en-US"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1620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深度学习的优势来自表达能力，难点在数据、算力和解释性</a:t>
            </a:r>
            <a:r>
              <a: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2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905000"/>
            <a:ext cx="2857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2114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非线性表达</a:t>
            </a:r>
            <a:endParaRPr sz="142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4384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多层结构可以拟合复杂函数关系。</a:t>
            </a:r>
            <a:endParaRPr sz="109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124325" y="1905000"/>
            <a:ext cx="2857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314825" y="2114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自动特征提取</a:t>
            </a:r>
            <a:endParaRPr sz="1425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314825" y="24384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从数据中学习特征，减少人工设计。</a:t>
            </a:r>
            <a:endParaRPr sz="109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505700" y="1905000"/>
            <a:ext cx="2857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96200" y="2114550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大数据和算力</a:t>
            </a:r>
            <a:endParaRPr sz="142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96200" y="24384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训练效果依赖数据规模和计算资源。</a:t>
            </a:r>
            <a:endParaRPr sz="109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2950" y="3073644"/>
            <a:ext cx="2857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33450" y="3209925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err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可解释性差</a:t>
            </a:r>
            <a:endParaRPr sz="1425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23925" y="3546231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模型内部决策过程不容易直接说明</a:t>
            </a:r>
            <a:r>
              <a: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9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5191125"/>
            <a:ext cx="2857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81075" y="5393348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计算机视觉</a:t>
            </a:r>
            <a:endParaRPr sz="142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81075" y="5749436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图像分类、检测、识别</a:t>
            </a:r>
            <a:r>
              <a: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9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96075" y="5226294"/>
            <a:ext cx="2857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071946" y="5319712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err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自然语言处理</a:t>
            </a:r>
            <a:endParaRPr sz="1425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71946" y="5730203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文本分类、翻译、语义理解</a:t>
            </a:r>
            <a:r>
              <a:rPr sz="1090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90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24280" y="4706266"/>
            <a:ext cx="9253170" cy="48485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深度学习</a:t>
            </a:r>
            <a:r>
              <a:rPr lang="zh-CN" altLang="en-US"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典型应用场景</a:t>
            </a:r>
            <a:endParaRPr sz="22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Grp="1"/>
          </p:cNvSpPr>
          <p:nvPr/>
        </p:nvSpPr>
        <p:spPr>
          <a:xfrm>
            <a:off x="60960" y="2286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lang="zh-CN" altLang="en-US"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98231" y="1223596"/>
            <a:ext cx="9136673" cy="52973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张量的概念</a:t>
            </a:r>
            <a:endParaRPr sz="22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52450" y="2114550"/>
            <a:ext cx="2853690" cy="2933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标量：</a:t>
            </a:r>
            <a:r>
              <a:rPr lang="en-US" altLang="zh-CN" sz="14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4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维张量             例如：</a:t>
            </a:r>
            <a:r>
              <a:rPr lang="en-US" altLang="zh-CN" sz="14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3.14</a:t>
            </a:r>
            <a:endParaRPr sz="1425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52450" y="2697480"/>
            <a:ext cx="5147310" cy="2933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向量：一维张量            例如：</a:t>
            </a:r>
            <a:r>
              <a:rPr lang="en-US" altLang="zh-CN" sz="14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[1, 2, 3]</a:t>
            </a:r>
            <a:endParaRPr sz="1425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52450" y="3205382"/>
            <a:ext cx="5147310" cy="2933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矩阵：二维张量            例如：</a:t>
            </a:r>
            <a:r>
              <a:rPr lang="en-US" altLang="zh-CN" sz="14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[[1, 2, 3],[4, 5, 6]]</a:t>
            </a:r>
            <a:endParaRPr sz="1425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52450" y="3713284"/>
            <a:ext cx="5147310" cy="2933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彩色图：三维张量          视频：四维张量</a:t>
            </a:r>
            <a:endParaRPr sz="1425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912327" y="5369535"/>
            <a:ext cx="9136673" cy="52973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altLang="en-US" sz="200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所以张量可以是任意维度的，可以容纳数字的“容器”</a:t>
            </a:r>
            <a:endParaRPr sz="200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zh-CN" altLang="en-US" sz="28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张量实践</a:t>
            </a:r>
            <a:endParaRPr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323975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张量是PyTorch中承载数据、特征图和参数的基本结构</a:t>
            </a:r>
            <a:r>
              <a: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2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333318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常用创建方式</a:t>
            </a:r>
            <a:endParaRPr sz="142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52451" y="2736860"/>
            <a:ext cx="561975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1" y="287021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已有数据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905001" y="287021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 err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torch.tensor</a:t>
            </a:r>
            <a:r>
              <a: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endParaRPr sz="1015" b="0">
              <a:solidFill>
                <a:srgbClr val="1F6F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1" y="287021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根据列表或数组创建张量</a:t>
            </a:r>
            <a:endParaRPr sz="101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1" y="3327410"/>
            <a:ext cx="5619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1" y="346076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随机张量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905001" y="346076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rand / </a:t>
            </a:r>
            <a:r>
              <a:rPr sz="1015" b="0" err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randn</a:t>
            </a:r>
            <a:r>
              <a: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/ </a:t>
            </a:r>
            <a:r>
              <a:rPr sz="1015" b="0" err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randint</a:t>
            </a:r>
            <a:endParaRPr sz="1015" b="0">
              <a:solidFill>
                <a:srgbClr val="1F6F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810001" y="346076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生成随机浮点或整数张量</a:t>
            </a:r>
            <a:endParaRPr sz="101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52451" y="3917960"/>
            <a:ext cx="561975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2951" y="405131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指定值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905001" y="405131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zeros / ones / full</a:t>
            </a:r>
            <a:endParaRPr sz="1015" b="0">
              <a:solidFill>
                <a:srgbClr val="1F6F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10001" y="405131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创建0、1或指定值张量</a:t>
            </a:r>
            <a:endParaRPr sz="101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2450" y="4584710"/>
            <a:ext cx="5619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2951" y="464186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同形状</a:t>
            </a:r>
            <a:endParaRPr sz="105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905001" y="464186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15" b="0" err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zeros_like</a:t>
            </a:r>
            <a:r>
              <a: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/ </a:t>
            </a:r>
            <a:r>
              <a:rPr sz="1015" b="0" err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ones_like</a:t>
            </a:r>
            <a:endParaRPr sz="1015" b="0">
              <a:solidFill>
                <a:srgbClr val="1F6F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810001" y="464186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按已有张量形状创建</a:t>
            </a:r>
            <a:endParaRPr sz="101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3410" y="2717166"/>
            <a:ext cx="4907745" cy="2401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30270" cy="4838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</a:t>
            </a:r>
            <a:r>
              <a:rPr lang="zh-CN" altLang="en-US" sz="28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张量实践</a:t>
            </a:r>
            <a:endParaRPr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16967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</a:t>
            </a:r>
            <a:r>
              <a:rPr lang="en-US" altLang="zh-CN"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张量转换</a:t>
            </a:r>
            <a:endParaRPr sz="20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988835"/>
            <a:ext cx="6579869" cy="10833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4531" y="2336815"/>
            <a:ext cx="1714499" cy="387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00" b="1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</a:t>
            </a:r>
            <a:r>
              <a:rPr lang="zh-CN" altLang="en-US" sz="16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转张量</a:t>
            </a:r>
            <a:endParaRPr sz="160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99029" y="2170455"/>
            <a:ext cx="2815591" cy="166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400" err="1">
                <a:solidFill>
                  <a:srgbClr val="1F6F8B"/>
                </a:solidFill>
                <a:latin typeface="Consolas" panose="020B0609020204030204"/>
              </a:rPr>
              <a:t>torch.from_numpy</a:t>
            </a:r>
            <a:r>
              <a:rPr lang="en-US" altLang="zh-CN" sz="1400">
                <a:solidFill>
                  <a:srgbClr val="1F6F8B"/>
                </a:solidFill>
                <a:latin typeface="Consolas" panose="020B0609020204030204"/>
              </a:rPr>
              <a:t>(</a:t>
            </a:r>
            <a:r>
              <a:rPr lang="en-US" altLang="zh-CN" sz="1400" err="1">
                <a:solidFill>
                  <a:srgbClr val="1F6F8B"/>
                </a:solidFill>
                <a:latin typeface="Consolas" panose="020B0609020204030204"/>
              </a:rPr>
              <a:t>np_array</a:t>
            </a:r>
            <a:r>
              <a:rPr lang="en-US" altLang="zh-CN" sz="1400">
                <a:solidFill>
                  <a:srgbClr val="1F6F8B"/>
                </a:solidFill>
                <a:latin typeface="Consolas" panose="020B0609020204030204"/>
              </a:rPr>
              <a:t>)</a:t>
            </a:r>
            <a:endParaRPr lang="en-US" altLang="zh-CN" sz="1400">
              <a:solidFill>
                <a:srgbClr val="1F6F8B"/>
              </a:solidFill>
              <a:latin typeface="Consolas" panose="020B0609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285739" y="2233335"/>
            <a:ext cx="2174242" cy="166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15"/>
              <a:t>共享内存</a:t>
            </a:r>
            <a:endParaRPr lang="zh-CN" altLang="en-US" sz="1015"/>
          </a:p>
          <a:p>
            <a:pPr algn="l"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1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99029" y="2638430"/>
            <a:ext cx="2581911" cy="20798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5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400" b="0" err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torch.tensor</a:t>
            </a:r>
            <a:r>
              <a:rPr sz="1400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</a:t>
            </a:r>
            <a:r>
              <a:rPr lang="en-US" altLang="zh-CN" sz="1400" err="1">
                <a:solidFill>
                  <a:srgbClr val="1F6F8B"/>
                </a:solidFill>
                <a:latin typeface="Consolas" panose="020B0609020204030204"/>
              </a:rPr>
              <a:t>np_array</a:t>
            </a:r>
            <a:r>
              <a:rPr sz="1400" b="0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endParaRPr sz="1400" b="0">
              <a:solidFill>
                <a:srgbClr val="1F6F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285739" y="2680065"/>
            <a:ext cx="2174242" cy="166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15"/>
              <a:t>不共享内存</a:t>
            </a:r>
            <a:endParaRPr lang="zh-CN" altLang="en-US" sz="1015"/>
          </a:p>
          <a:p>
            <a:pPr algn="l"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1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3768900"/>
            <a:ext cx="6579869" cy="10833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52450" y="33737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</a:t>
            </a:r>
            <a:r>
              <a:rPr lang="en-US" altLang="zh-CN"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20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</a:t>
            </a:r>
            <a:r>
              <a:rPr lang="zh-CN" altLang="en-US"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</a:t>
            </a:r>
            <a:endParaRPr sz="20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4531" y="4105445"/>
            <a:ext cx="1963419" cy="3873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张量转</a:t>
            </a:r>
            <a:r>
              <a:rPr lang="en-US" altLang="zh-CN" sz="1600" b="1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</a:t>
            </a:r>
            <a:r>
              <a:rPr lang="zh-CN" altLang="en-US" sz="1600" b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</a:t>
            </a:r>
            <a:endParaRPr sz="1600" b="1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780031" y="3939100"/>
            <a:ext cx="2815591" cy="237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zh-CN" sz="1400" err="1">
                <a:solidFill>
                  <a:srgbClr val="1F6F8B"/>
                </a:solidFill>
                <a:latin typeface="Consolas" panose="020B0609020204030204"/>
              </a:rPr>
              <a:t>np_xarray</a:t>
            </a:r>
            <a:r>
              <a:rPr lang="en-US" altLang="zh-CN" sz="1400">
                <a:solidFill>
                  <a:srgbClr val="1F6F8B"/>
                </a:solidFill>
                <a:latin typeface="Consolas" panose="020B0609020204030204"/>
              </a:rPr>
              <a:t> = </a:t>
            </a:r>
            <a:r>
              <a:rPr lang="en-US" altLang="zh-CN" sz="1400" err="1">
                <a:solidFill>
                  <a:srgbClr val="1F6F8B"/>
                </a:solidFill>
                <a:latin typeface="Consolas" panose="020B0609020204030204"/>
              </a:rPr>
              <a:t>x_data.numpy</a:t>
            </a:r>
            <a:r>
              <a:rPr lang="en-US" altLang="zh-CN" sz="1400">
                <a:solidFill>
                  <a:srgbClr val="1F6F8B"/>
                </a:solidFill>
                <a:latin typeface="Consolas" panose="020B0609020204030204"/>
              </a:rPr>
              <a:t>()</a:t>
            </a:r>
            <a:endParaRPr lang="en-US" altLang="zh-CN" sz="1400">
              <a:solidFill>
                <a:srgbClr val="1F6F8B"/>
              </a:solidFill>
              <a:latin typeface="Consolas" panose="020B060902020403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769870" y="4373810"/>
            <a:ext cx="3061970" cy="2592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en-US" altLang="zh-CN" sz="1400" err="1">
                <a:solidFill>
                  <a:srgbClr val="1F6F8B"/>
                </a:solidFill>
                <a:latin typeface="Consolas" panose="020B0609020204030204"/>
              </a:rPr>
              <a:t>np_yarray</a:t>
            </a:r>
            <a:r>
              <a:rPr lang="en-US" altLang="zh-CN" sz="1400">
                <a:solidFill>
                  <a:srgbClr val="1F6F8B"/>
                </a:solidFill>
                <a:latin typeface="Consolas" panose="020B0609020204030204"/>
              </a:rPr>
              <a:t> =</a:t>
            </a:r>
            <a:r>
              <a:rPr lang="en-US" altLang="zh-CN" sz="1400" err="1">
                <a:solidFill>
                  <a:srgbClr val="1F6F8B"/>
                </a:solidFill>
                <a:latin typeface="Consolas" panose="020B0609020204030204"/>
              </a:rPr>
              <a:t>x_data.numpy</a:t>
            </a:r>
            <a:r>
              <a:rPr lang="en-US" altLang="zh-CN" sz="1400">
                <a:solidFill>
                  <a:srgbClr val="1F6F8B"/>
                </a:solidFill>
                <a:latin typeface="Consolas" panose="020B0609020204030204"/>
              </a:rPr>
              <a:t>().copy()</a:t>
            </a:r>
            <a:endParaRPr lang="en-US" altLang="zh-CN" sz="1400">
              <a:solidFill>
                <a:srgbClr val="1F6F8B"/>
              </a:solidFill>
              <a:latin typeface="Consolas" panose="020B060902020403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77279" y="3974895"/>
            <a:ext cx="2174242" cy="166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15"/>
              <a:t>共享内存</a:t>
            </a:r>
            <a:endParaRPr lang="zh-CN" altLang="en-US" sz="1015"/>
          </a:p>
          <a:p>
            <a:pPr algn="l"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1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177279" y="4445640"/>
            <a:ext cx="2174242" cy="166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015"/>
              <a:t>不共享内存</a:t>
            </a:r>
            <a:endParaRPr lang="zh-CN" altLang="en-US" sz="1015"/>
          </a:p>
          <a:p>
            <a:pPr algn="l">
              <a:defRPr sz="101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1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981" y="1988835"/>
            <a:ext cx="4248114" cy="16443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2168" y="502920"/>
            <a:ext cx="80467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问题1：NumPy 与 Tensor 的共享内存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987552"/>
            <a:ext cx="7955279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微软雅黑" panose="020B0503020204020204" charset="-122"/>
              </a:rPr>
              <a:t>from_numpy 和 tensor 看起来都能转换，但内存语义不同。</a:t>
            </a:r>
            <a:endParaRPr sz="10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4"/>
          <p:cNvSpPr/>
          <p:nvPr/>
        </p:nvSpPr>
        <p:spPr>
          <a:xfrm>
            <a:off x="691896" y="1508760"/>
            <a:ext cx="2971800" cy="384048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5"/>
          <p:cNvSpPr txBox="1"/>
          <p:nvPr/>
        </p:nvSpPr>
        <p:spPr>
          <a:xfrm>
            <a:off x="929640" y="1810512"/>
            <a:ext cx="731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微软雅黑" panose="020B0503020204020204" charset="-122"/>
              </a:rPr>
              <a:t>现象</a:t>
            </a:r>
            <a:endParaRPr sz="140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6" name="Oval 6"/>
          <p:cNvSpPr/>
          <p:nvPr/>
        </p:nvSpPr>
        <p:spPr>
          <a:xfrm>
            <a:off x="929640" y="2295144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1094232" y="2221992"/>
            <a:ext cx="2167127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40" b="0">
                <a:solidFill>
                  <a:srgbClr val="1E293B"/>
                </a:solidFill>
                <a:latin typeface="微软雅黑" panose="020B0503020204020204" charset="-122"/>
              </a:rPr>
              <a:t>修改原 NumPy 数组后，Tensor 也跟着变</a:t>
            </a:r>
            <a:endParaRPr sz="104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8" name="Oval 8"/>
          <p:cNvSpPr/>
          <p:nvPr/>
        </p:nvSpPr>
        <p:spPr>
          <a:xfrm>
            <a:off x="929640" y="2697480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9"/>
          <p:cNvSpPr txBox="1"/>
          <p:nvPr/>
        </p:nvSpPr>
        <p:spPr>
          <a:xfrm>
            <a:off x="1094232" y="2624328"/>
            <a:ext cx="2167127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40" b="0">
                <a:solidFill>
                  <a:srgbClr val="1E293B"/>
                </a:solidFill>
                <a:latin typeface="微软雅黑" panose="020B0503020204020204" charset="-122"/>
              </a:rPr>
              <a:t>调试时误以为是模型输出异常</a:t>
            </a:r>
            <a:endParaRPr sz="104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0" name="Oval 10"/>
          <p:cNvSpPr/>
          <p:nvPr/>
        </p:nvSpPr>
        <p:spPr>
          <a:xfrm>
            <a:off x="929640" y="3099816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1"/>
          <p:cNvSpPr txBox="1"/>
          <p:nvPr/>
        </p:nvSpPr>
        <p:spPr>
          <a:xfrm>
            <a:off x="1094232" y="3026664"/>
            <a:ext cx="2167127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40" b="0">
                <a:solidFill>
                  <a:srgbClr val="1E293B"/>
                </a:solidFill>
                <a:latin typeface="微软雅黑" panose="020B0503020204020204" charset="-122"/>
              </a:rPr>
              <a:t>保存中间结果时，后续原地操作会污染数据</a:t>
            </a:r>
            <a:endParaRPr sz="104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2"/>
          <p:cNvSpPr/>
          <p:nvPr/>
        </p:nvSpPr>
        <p:spPr>
          <a:xfrm>
            <a:off x="3901440" y="1508760"/>
            <a:ext cx="338328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3"/>
          <p:cNvSpPr txBox="1"/>
          <p:nvPr/>
        </p:nvSpPr>
        <p:spPr>
          <a:xfrm>
            <a:off x="4148327" y="1810512"/>
            <a:ext cx="731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微软雅黑" panose="020B0503020204020204" charset="-122"/>
              </a:rPr>
              <a:t>原因</a:t>
            </a:r>
            <a:endParaRPr sz="14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4"/>
          <p:cNvSpPr/>
          <p:nvPr/>
        </p:nvSpPr>
        <p:spPr>
          <a:xfrm>
            <a:off x="4130040" y="2240280"/>
            <a:ext cx="2788920" cy="2029968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5"/>
          <p:cNvSpPr txBox="1"/>
          <p:nvPr/>
        </p:nvSpPr>
        <p:spPr>
          <a:xfrm>
            <a:off x="4248912" y="2350008"/>
            <a:ext cx="2551176" cy="18470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70" b="0">
                <a:solidFill>
                  <a:srgbClr val="E2E8F0"/>
                </a:solidFill>
                <a:latin typeface="Consolas" panose="020B0609020204030204"/>
              </a:rPr>
              <a:t>arr = np.array([1, 2, 3])
x = torch.from_numpy(arr)  # 共享内存
y = torch.tensor(arr)      # 拷贝内存
arr[0] = 9
# x[0] 会变，y[0] 不变</a:t>
            </a:r>
            <a:endParaRPr sz="97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148327" y="4553712"/>
            <a:ext cx="2651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20" b="0">
                <a:solidFill>
                  <a:srgbClr val="64748B"/>
                </a:solidFill>
                <a:latin typeface="微软雅黑" panose="020B0503020204020204" charset="-122"/>
              </a:rPr>
              <a:t>共享内存能省拷贝，但会带来“谁改了数据”的追踪问题。</a:t>
            </a:r>
            <a:endParaRPr sz="102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8"/>
          <p:cNvSpPr txBox="1"/>
          <p:nvPr/>
        </p:nvSpPr>
        <p:spPr>
          <a:xfrm>
            <a:off x="7805928" y="1810512"/>
            <a:ext cx="12801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 panose="020B0503020204020204" charset="-122"/>
              </a:rPr>
              <a:t>解决思路</a:t>
            </a:r>
            <a:endParaRPr sz="1400" b="1">
              <a:solidFill>
                <a:srgbClr val="0D9488"/>
              </a:solidFill>
              <a:latin typeface="微软雅黑" panose="020B0503020204020204" charset="-122"/>
            </a:endParaRPr>
          </a:p>
        </p:txBody>
      </p:sp>
      <p:sp>
        <p:nvSpPr>
          <p:cNvPr id="18" name="Oval 19"/>
          <p:cNvSpPr/>
          <p:nvPr/>
        </p:nvSpPr>
        <p:spPr>
          <a:xfrm>
            <a:off x="7805928" y="2295144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20"/>
          <p:cNvSpPr txBox="1"/>
          <p:nvPr/>
        </p:nvSpPr>
        <p:spPr>
          <a:xfrm>
            <a:off x="7970519" y="2221992"/>
            <a:ext cx="2532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微软雅黑" panose="020B0503020204020204" charset="-122"/>
              </a:rPr>
              <a:t>需要零拷贝时用 from_numpy，但避免原地修改</a:t>
            </a:r>
            <a:endParaRPr sz="9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0" name="Oval 21"/>
          <p:cNvSpPr/>
          <p:nvPr/>
        </p:nvSpPr>
        <p:spPr>
          <a:xfrm>
            <a:off x="7805928" y="2651760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2"/>
          <p:cNvSpPr txBox="1"/>
          <p:nvPr/>
        </p:nvSpPr>
        <p:spPr>
          <a:xfrm>
            <a:off x="7970519" y="2578608"/>
            <a:ext cx="2532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微软雅黑" panose="020B0503020204020204" charset="-122"/>
              </a:rPr>
              <a:t>需要隔离数据时用 torch.tensor() 或 .copy()</a:t>
            </a:r>
            <a:endParaRPr sz="9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2" name="Oval 23"/>
          <p:cNvSpPr/>
          <p:nvPr/>
        </p:nvSpPr>
        <p:spPr>
          <a:xfrm>
            <a:off x="7805928" y="3008376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4"/>
          <p:cNvSpPr txBox="1"/>
          <p:nvPr/>
        </p:nvSpPr>
        <p:spPr>
          <a:xfrm>
            <a:off x="7970519" y="2935224"/>
            <a:ext cx="2532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微软雅黑" panose="020B0503020204020204" charset="-122"/>
              </a:rPr>
              <a:t>Tensor转NumPy记录结果时用 detach().cpu().numpy().copy()</a:t>
            </a:r>
            <a:endParaRPr sz="9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4" name="Oval 25"/>
          <p:cNvSpPr/>
          <p:nvPr/>
        </p:nvSpPr>
        <p:spPr>
          <a:xfrm>
            <a:off x="7805928" y="3364992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6"/>
          <p:cNvSpPr txBox="1"/>
          <p:nvPr/>
        </p:nvSpPr>
        <p:spPr>
          <a:xfrm>
            <a:off x="7970519" y="3291840"/>
            <a:ext cx="25328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微软雅黑" panose="020B0503020204020204" charset="-122"/>
              </a:rPr>
              <a:t>训练代码里尽量减少隐式共享，关键节点写清楚</a:t>
            </a:r>
            <a:endParaRPr sz="9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问题2：彩色图输入 CNN 的维度顺序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04672"/>
            <a:ext cx="7955279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微软雅黑" panose="020B0503020204020204" charset="-122"/>
              </a:rPr>
              <a:t>图片读取常见HWC，PyTorch卷积层需要NCHW。</a:t>
            </a:r>
            <a:endParaRPr sz="105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4"/>
          <p:cNvSpPr/>
          <p:nvPr/>
        </p:nvSpPr>
        <p:spPr>
          <a:xfrm>
            <a:off x="685800" y="1371600"/>
            <a:ext cx="2971800" cy="384048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5"/>
          <p:cNvSpPr txBox="1"/>
          <p:nvPr/>
        </p:nvSpPr>
        <p:spPr>
          <a:xfrm>
            <a:off x="960120" y="1664208"/>
            <a:ext cx="16459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 panose="020B0503020204020204" charset="-122"/>
              </a:rPr>
              <a:t>从图片到卷积输入</a:t>
            </a:r>
            <a:endParaRPr sz="1400" b="1">
              <a:solidFill>
                <a:srgbClr val="0D948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6"/>
          <p:cNvSpPr/>
          <p:nvPr/>
        </p:nvSpPr>
        <p:spPr>
          <a:xfrm>
            <a:off x="960120" y="2240280"/>
            <a:ext cx="786384" cy="310896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HWC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938528" y="2185416"/>
            <a:ext cx="10515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20" b="0">
                <a:solidFill>
                  <a:srgbClr val="1E293B"/>
                </a:solidFill>
                <a:latin typeface="微软雅黑" panose="020B0503020204020204" charset="-122"/>
              </a:rPr>
              <a:t>读取/显示
[H, W, C]</a:t>
            </a:r>
            <a:endParaRPr sz="92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>
            <a:off x="1353312" y="2578608"/>
            <a:ext cx="0" cy="27432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9"/>
          <p:cNvSpPr/>
          <p:nvPr/>
        </p:nvSpPr>
        <p:spPr>
          <a:xfrm>
            <a:off x="960120" y="2990088"/>
            <a:ext cx="786384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CHW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38528" y="2935224"/>
            <a:ext cx="10515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20" b="0">
                <a:solidFill>
                  <a:srgbClr val="1E293B"/>
                </a:solidFill>
                <a:latin typeface="微软雅黑" panose="020B0503020204020204" charset="-122"/>
              </a:rPr>
              <a:t>通道优先
[C, H, W]</a:t>
            </a:r>
            <a:endParaRPr sz="92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>
            <a:off x="1353312" y="3328415"/>
            <a:ext cx="0" cy="274321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2"/>
          <p:cNvSpPr/>
          <p:nvPr/>
        </p:nvSpPr>
        <p:spPr>
          <a:xfrm>
            <a:off x="960120" y="3739896"/>
            <a:ext cx="786384" cy="31089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NCHW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38528" y="3685032"/>
            <a:ext cx="10515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20" b="0">
                <a:solidFill>
                  <a:srgbClr val="1E293B"/>
                </a:solidFill>
                <a:latin typeface="微软雅黑" panose="020B0503020204020204" charset="-122"/>
              </a:rPr>
              <a:t>加入batch
[N, C, H, W]</a:t>
            </a:r>
            <a:endParaRPr sz="92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60120" y="4645152"/>
            <a:ext cx="224028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20" b="1">
                <a:solidFill>
                  <a:srgbClr val="EA580C"/>
                </a:solidFill>
                <a:latin typeface="微软雅黑" panose="020B0503020204020204" charset="-122"/>
              </a:rPr>
              <a:t>注意：这里应是 unsqueeze(0)，即增加 batch 维，不是 unsequence。</a:t>
            </a:r>
            <a:endParaRPr sz="92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5"/>
          <p:cNvSpPr/>
          <p:nvPr/>
        </p:nvSpPr>
        <p:spPr>
          <a:xfrm>
            <a:off x="3913632" y="1371600"/>
            <a:ext cx="3703320" cy="3840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6"/>
          <p:cNvSpPr txBox="1"/>
          <p:nvPr/>
        </p:nvSpPr>
        <p:spPr>
          <a:xfrm>
            <a:off x="4160520" y="1664208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微软雅黑" panose="020B0503020204020204" charset="-122"/>
              </a:rPr>
              <a:t>核心代码</a:t>
            </a:r>
            <a:endParaRPr sz="14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7"/>
          <p:cNvSpPr/>
          <p:nvPr/>
        </p:nvSpPr>
        <p:spPr>
          <a:xfrm>
            <a:off x="4160520" y="2084831"/>
            <a:ext cx="3063240" cy="233172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8"/>
          <p:cNvSpPr txBox="1"/>
          <p:nvPr/>
        </p:nvSpPr>
        <p:spPr>
          <a:xfrm>
            <a:off x="4279392" y="2194560"/>
            <a:ext cx="2825496" cy="21488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60" b="0">
                <a:solidFill>
                  <a:srgbClr val="E2E8F0"/>
                </a:solidFill>
                <a:latin typeface="Consolas" panose="020B0609020204030204"/>
              </a:rPr>
              <a:t>img = plt.imread('data/test.jpg')
# img: [H, W, C]
x = torch.tensor(img).float()
x = x.permute(2, 0, 1)   # [C, H, W]
x = x.unsqueeze(0)       # [1, C, H, W]
out = conv(x)</a:t>
            </a:r>
            <a:endParaRPr sz="96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160520" y="4617720"/>
            <a:ext cx="30632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20" b="0">
                <a:solidFill>
                  <a:srgbClr val="64748B"/>
                </a:solidFill>
                <a:latin typeface="微软雅黑" panose="020B0503020204020204" charset="-122"/>
              </a:rPr>
              <a:t>若使用 ToTensor()，图片会自动变成 [C, H, W]，但送入模型前仍需要 batch 维。</a:t>
            </a:r>
            <a:endParaRPr sz="920" b="0">
              <a:solidFill>
                <a:srgbClr val="64748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21"/>
          <p:cNvSpPr txBox="1"/>
          <p:nvPr/>
        </p:nvSpPr>
        <p:spPr>
          <a:xfrm>
            <a:off x="8275320" y="1664208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微软雅黑" panose="020B0503020204020204" charset="-122"/>
              </a:rPr>
              <a:t>排查方法</a:t>
            </a:r>
            <a:endParaRPr sz="140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21" name="Oval 22"/>
          <p:cNvSpPr/>
          <p:nvPr/>
        </p:nvSpPr>
        <p:spPr>
          <a:xfrm>
            <a:off x="8275320" y="2194560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4"/>
          <p:cNvSpPr/>
          <p:nvPr/>
        </p:nvSpPr>
        <p:spPr>
          <a:xfrm>
            <a:off x="8275320" y="2587752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6"/>
          <p:cNvSpPr/>
          <p:nvPr/>
        </p:nvSpPr>
        <p:spPr>
          <a:xfrm>
            <a:off x="8275320" y="2980944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8"/>
          <p:cNvSpPr/>
          <p:nvPr/>
        </p:nvSpPr>
        <p:spPr>
          <a:xfrm>
            <a:off x="8275320" y="3374136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0"/>
          <p:cNvSpPr/>
          <p:nvPr/>
        </p:nvSpPr>
        <p:spPr>
          <a:xfrm>
            <a:off x="8001000" y="1371600"/>
            <a:ext cx="2971800" cy="384048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1"/>
          <p:cNvSpPr txBox="1"/>
          <p:nvPr/>
        </p:nvSpPr>
        <p:spPr>
          <a:xfrm>
            <a:off x="8275320" y="1664208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微软雅黑" panose="020B0503020204020204" charset="-122"/>
              </a:rPr>
              <a:t>排查方法</a:t>
            </a:r>
            <a:endParaRPr sz="1400" b="1">
              <a:solidFill>
                <a:srgbClr val="EA580C"/>
              </a:solidFill>
              <a:latin typeface="微软雅黑" panose="020B0503020204020204" charset="-122"/>
            </a:endParaRPr>
          </a:p>
        </p:txBody>
      </p:sp>
      <p:sp>
        <p:nvSpPr>
          <p:cNvPr id="27" name="Oval 22"/>
          <p:cNvSpPr/>
          <p:nvPr/>
        </p:nvSpPr>
        <p:spPr>
          <a:xfrm>
            <a:off x="8275320" y="2194560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3"/>
          <p:cNvSpPr txBox="1"/>
          <p:nvPr/>
        </p:nvSpPr>
        <p:spPr>
          <a:xfrm>
            <a:off x="8439912" y="2121408"/>
            <a:ext cx="2103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微软雅黑" panose="020B0503020204020204" charset="-122"/>
              </a:rPr>
              <a:t>每次转换后打印 x.shape</a:t>
            </a:r>
            <a:endParaRPr sz="9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29" name="Oval 24"/>
          <p:cNvSpPr/>
          <p:nvPr/>
        </p:nvSpPr>
        <p:spPr>
          <a:xfrm>
            <a:off x="8275320" y="2587752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5"/>
          <p:cNvSpPr txBox="1"/>
          <p:nvPr/>
        </p:nvSpPr>
        <p:spPr>
          <a:xfrm>
            <a:off x="8439912" y="2514600"/>
            <a:ext cx="2103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微软雅黑" panose="020B0503020204020204" charset="-122"/>
              </a:rPr>
              <a:t>Conv2d报错时先看维度数量</a:t>
            </a:r>
            <a:endParaRPr sz="9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1" name="Oval 26"/>
          <p:cNvSpPr/>
          <p:nvPr/>
        </p:nvSpPr>
        <p:spPr>
          <a:xfrm>
            <a:off x="8275320" y="2980944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27"/>
          <p:cNvSpPr txBox="1"/>
          <p:nvPr/>
        </p:nvSpPr>
        <p:spPr>
          <a:xfrm>
            <a:off x="8439912" y="2907791"/>
            <a:ext cx="2103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微软雅黑" panose="020B0503020204020204" charset="-122"/>
              </a:rPr>
              <a:t>通道数必须匹配 Conv2d 的 in_channels</a:t>
            </a:r>
            <a:endParaRPr sz="9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33" name="Oval 28"/>
          <p:cNvSpPr/>
          <p:nvPr/>
        </p:nvSpPr>
        <p:spPr>
          <a:xfrm>
            <a:off x="8275320" y="3374136"/>
            <a:ext cx="82296" cy="822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29"/>
          <p:cNvSpPr txBox="1"/>
          <p:nvPr/>
        </p:nvSpPr>
        <p:spPr>
          <a:xfrm>
            <a:off x="8439912" y="3300984"/>
            <a:ext cx="2103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0">
                <a:solidFill>
                  <a:srgbClr val="1E293B"/>
                </a:solidFill>
                <a:latin typeface="微软雅黑" panose="020B0503020204020204" charset="-122"/>
              </a:rPr>
              <a:t>显示图片前再转回 HWC</a:t>
            </a:r>
            <a:endParaRPr sz="9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581025" y="1244634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一个神经元可以理解为“线性加权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+ </a:t>
            </a: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非线性激活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”。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81025" y="3226401"/>
            <a:ext cx="5334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28675" y="3466004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线性部分</a:t>
            </a:r>
            <a:endParaRPr sz="12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>
                <a:spLocks noGrp="1"/>
              </p:cNvSpPr>
              <p:nvPr/>
            </p:nvSpPr>
            <p:spPr>
              <a:xfrm>
                <a:off x="2228662" y="3214937"/>
                <a:ext cx="3406775" cy="883251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t"/>
              <a:lstStyle/>
              <a:p>
                <a:pPr>
                  <a:defRPr sz="1650" b="0">
                    <a:solidFill>
                      <a:srgbClr val="1F2933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50" b="0" i="1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Consolas" panose="020B0609020204030204"/>
                          <a:cs typeface="Consolas" panose="020B0609020204030204"/>
                        </a:rPr>
                        <m:t>ℎ</m:t>
                      </m:r>
                      <m:r>
                        <a:rPr lang="en-US" altLang="zh-CN" sz="1650" b="0" i="1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  <a:ea typeface="Consolas" panose="020B0609020204030204"/>
                          <a:cs typeface="Consolas" panose="020B0609020204030204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650" b="0" i="1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zh-CN" sz="1650" i="1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altLang="zh-CN" sz="1650" b="0" i="1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50" b="0" i="1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650" b="0" i="1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1650" b="0" i="1" smtClean="0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50" b="0" i="1" smtClean="0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50" b="0" i="1" smtClean="0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650" b="0" i="1" smtClean="0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1650" b="0" i="1" smtClean="0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650" b="0" i="1" smtClean="0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sz="1650" i="1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650" b="0" i="1" smtClean="0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1650" i="1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650" b="0" i="1" smtClean="0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sz="1650" i="1">
                                  <a:solidFill>
                                    <a:srgbClr val="1F2933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nary>
                      <m:r>
                        <a:rPr lang="en-US" altLang="zh-CN" sz="1650" b="0" i="1" smtClean="0">
                          <a:solidFill>
                            <a:srgbClr val="1F293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1650" b="0" i="1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b="0" i="1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650" b="0" i="1" smtClean="0">
                              <a:solidFill>
                                <a:srgbClr val="1F2933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sz="1650" b="0">
                  <a:solidFill>
                    <a:srgbClr val="1F293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662" y="3214937"/>
                <a:ext cx="3406775" cy="883251"/>
              </a:xfrm>
              <a:prstGeom prst="rect">
                <a:avLst/>
              </a:prstGeom>
              <a:blipFill rotWithShape="1">
                <a:blip r:embed="rId1"/>
                <a:stretch>
                  <a:fillRect l="-144" t="-567" r="-136" b="-515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>
            <a:spLocks noGrp="1"/>
          </p:cNvSpPr>
          <p:nvPr/>
        </p:nvSpPr>
        <p:spPr>
          <a:xfrm>
            <a:off x="581025" y="4226526"/>
            <a:ext cx="5334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28675" y="4397976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激活输出</a:t>
            </a:r>
            <a:endParaRPr sz="12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943227" y="4407733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 = f(</a:t>
            </a:r>
            <a:r>
              <a:rPr lang="en-US" altLang="zh-CN" sz="165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</a:t>
            </a:r>
            <a:r>
              <a:rPr sz="165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endParaRPr sz="165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81025" y="5226651"/>
            <a:ext cx="5334000" cy="6858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28675" y="5398101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含义</a:t>
            </a:r>
            <a:endParaRPr sz="12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81225" y="5398101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 w 控制输入影响，偏置 b 起修正作用，激活函数 f 引入非线性。</a:t>
            </a:r>
            <a:endParaRPr sz="120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39382" y="705853"/>
            <a:ext cx="3847912" cy="281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090" y="1169069"/>
            <a:ext cx="4010310" cy="1964588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581025" y="28702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lang="zh-CN" altLang="en-US"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88" y="4076607"/>
            <a:ext cx="2987299" cy="2133785"/>
          </a:xfrm>
          <a:prstGeom prst="rect">
            <a:avLst/>
          </a:prstGeom>
        </p:spPr>
      </p:pic>
      <p:cxnSp>
        <p:nvCxnSpPr>
          <p:cNvPr id="22" name="直接箭头连接符 21"/>
          <p:cNvCxnSpPr>
            <a:stCxn id="15" idx="2"/>
            <a:endCxn id="20" idx="0"/>
          </p:cNvCxnSpPr>
          <p:nvPr/>
        </p:nvCxnSpPr>
        <p:spPr>
          <a:xfrm>
            <a:off x="9963338" y="3523153"/>
            <a:ext cx="0" cy="553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/>
          <p:cNvSpPr>
            <a:spLocks noGrp="1"/>
          </p:cNvSpPr>
          <p:nvPr/>
        </p:nvSpPr>
        <p:spPr>
          <a:xfrm>
            <a:off x="8449945" y="3675554"/>
            <a:ext cx="3333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取一个神经元</a:t>
            </a:r>
            <a:endParaRPr sz="165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19125" y="121920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激活函数决定网络如何引入非线性表达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2000250"/>
            <a:ext cx="2857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2479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Sigmoid</a:t>
            </a:r>
            <a:endParaRPr sz="165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762250"/>
            <a:ext cx="2381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σ(x)=1/(1+e⁻ˣ)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输出在0到1之间，常用于二分类输出层；输入过大或过小时容易梯度变小。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076700" y="2000250"/>
            <a:ext cx="2857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286250" y="22479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ReLU</a:t>
            </a:r>
            <a:endParaRPr sz="1650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286250" y="2762250"/>
            <a:ext cx="2381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ReLU(x)=max(0,x)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计算简单，常用于隐藏层；输入小于0时输出0。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10450" y="2000250"/>
            <a:ext cx="2857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20000" y="22479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Softmax</a:t>
            </a:r>
            <a:endParaRPr sz="165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0" y="2762250"/>
            <a:ext cx="23812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pᵢ=eᶻⁱ/Σeᶻʲ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将多个类别分数转换成概率分布。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334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lang="zh-CN" altLang="en-US"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9015730" y="49530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参数初始化</a:t>
            </a:r>
            <a:endParaRPr sz="16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179195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初始化的目标是让梯度更稳定地传播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9050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1145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为什么初始化</a:t>
            </a:r>
            <a:endParaRPr sz="142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45745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防止梯度消失或爆炸；打破神经元之间的对称性。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43575" y="19050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953125" y="21145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HE初始化</a:t>
            </a:r>
            <a:endParaRPr sz="1425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53125" y="245745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std = sqrt(2 / </a:t>
            </a: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fan_in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endParaRPr sz="124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常配合ReLU使用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。</a:t>
            </a:r>
            <a:endParaRPr sz="124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52425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37338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Xavier初始化</a:t>
            </a:r>
            <a:endParaRPr sz="142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407670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std = sqrt(2 / (</a:t>
            </a: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fan_in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+ </a:t>
            </a: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fan_out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))</a:t>
            </a:r>
            <a:endParaRPr sz="124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同时考虑输入和输出规模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。</a:t>
            </a:r>
            <a:endParaRPr sz="124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743575" y="352425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953125" y="37338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符号含义</a:t>
            </a:r>
            <a:endParaRPr sz="1425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953125" y="407670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fan_in：当前层输入神经元个数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fan_out：当前层输出神经元个数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lang="zh-CN" altLang="en-US"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lang="zh-CN" altLang="en-US"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015730" y="495300"/>
            <a:ext cx="1885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自动微分</a:t>
            </a:r>
            <a:endParaRPr sz="16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570355"/>
            <a:ext cx="6106160" cy="3498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/>
              <a:t>自动微分模块：对损失函数求导，结合反向传播，更新参数</a:t>
            </a:r>
            <a:endParaRPr lang="zh-CN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PyTorch建模</a:t>
            </a:r>
            <a:endParaRPr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06680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nn.Module把层结构和前向计算封装成一个模型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695450"/>
            <a:ext cx="5905500" cy="323850"/>
          </a:xfrm>
          <a:prstGeom prst="rect">
            <a:avLst/>
          </a:prstGeom>
          <a:solidFill>
            <a:srgbClr val="0F17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1771650"/>
            <a:ext cx="560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PyCharm代码区</a:t>
            </a:r>
            <a:endParaRPr sz="900" b="1">
              <a:solidFill>
                <a:srgbClr val="DDE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2019300"/>
            <a:ext cx="5905500" cy="34861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152650"/>
            <a:ext cx="5600700" cy="327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class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NeuralNetwork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nn.Module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):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def __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init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__(self):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super().__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init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__()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self.flatten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=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nn.Flatten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self.linear_relu_stack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=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nn.Sequential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nn.Linear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(28*28, 512),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nn.ReLU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(),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nn.Linear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(512, 10),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def forward(self, x):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x =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self.flatten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(x)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logits =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self.linear_relu_stack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(x)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return logits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0" y="1771650"/>
            <a:ext cx="3238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0" y="19240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__init__</a:t>
            </a:r>
            <a:endParaRPr sz="1275" b="1">
              <a:solidFill>
                <a:srgbClr val="1F6F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05800" y="19240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定义网络层结构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0" y="2609850"/>
            <a:ext cx="3238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0" y="27622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B86E2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B86E2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forward</a:t>
            </a:r>
            <a:endParaRPr sz="1275" b="1">
              <a:solidFill>
                <a:srgbClr val="B86E2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05800" y="27622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描述数据如何通过网络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48500" y="3448050"/>
            <a:ext cx="3238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36004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super()</a:t>
            </a:r>
            <a:endParaRPr sz="1275" b="1">
              <a:solidFill>
                <a:srgbClr val="1F6F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36004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初始化PyTorch父类能力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48500" y="4286250"/>
            <a:ext cx="3238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39000" y="44386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B86E2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B86E2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logits</a:t>
            </a:r>
            <a:endParaRPr sz="1275" b="1">
              <a:solidFill>
                <a:srgbClr val="B86E2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05800" y="44386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模型输出的原始类别分数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/>
          </p:cNvSpPr>
          <p:nvPr/>
        </p:nvSpPr>
        <p:spPr>
          <a:xfrm>
            <a:off x="0" y="1524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模型输出</a:t>
            </a:r>
            <a:endParaRPr sz="9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810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普通神经网络实践：查看模型结构、预测类别和参数。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695450"/>
            <a:ext cx="5810250" cy="323850"/>
          </a:xfrm>
          <a:prstGeom prst="rect">
            <a:avLst/>
          </a:prstGeom>
          <a:solidFill>
            <a:srgbClr val="0F17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771650"/>
            <a:ext cx="550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PyCharm代码区</a:t>
            </a:r>
            <a:endParaRPr sz="900" b="1">
              <a:solidFill>
                <a:srgbClr val="DDE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019300"/>
            <a:ext cx="5810250" cy="32004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152650"/>
            <a:ext cx="550545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model = NeuralNetwork().to(device)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X = torch.rand(1, 28, 28, device=device)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logits = model(X)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pred_probab = nn.Softmax(dim=1)(logits)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y_pred = pred_probab.argmax(1)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for name, param in model.named_parameters():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print(name, param.size())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0" y="1695450"/>
            <a:ext cx="3905250" cy="323850"/>
          </a:xfrm>
          <a:prstGeom prst="rect">
            <a:avLst/>
          </a:prstGeom>
          <a:solidFill>
            <a:srgbClr val="E8EE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10400" y="1771650"/>
            <a:ext cx="3600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运行输出示例</a:t>
            </a:r>
            <a:endParaRPr sz="9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0" y="2019300"/>
            <a:ext cx="39052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010400" y="2171700"/>
            <a:ext cx="3600450" cy="144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Predicted class: tensor([4], device='cuda:0')</a:t>
            </a:r>
            <a:endParaRPr sz="120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linear_relu_stack.0.weight  torch.Size([512, 784])</a:t>
            </a:r>
            <a:endParaRPr sz="120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linear_relu_stack.0.bias    torch.Size([512])</a:t>
            </a:r>
            <a:endParaRPr sz="120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linear_relu_stack.2.weight  torch.Size([10, 512])</a:t>
            </a:r>
            <a:endParaRPr sz="120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0" y="4095750"/>
            <a:ext cx="3905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67550" y="42957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315200" y="421005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named_parameters() 可以看到每层可训练参数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4705350"/>
            <a:ext cx="3905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067550" y="490537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315200" y="481965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Linear层权重形状为 [out_features, in_features]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反向传播</a:t>
            </a:r>
            <a:endParaRPr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152525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反向传播本质上是用链式法则求每个参数对损失的影响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952625"/>
            <a:ext cx="1714500" cy="5524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2124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 x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28900" y="2219325"/>
            <a:ext cx="400050" cy="19050"/>
          </a:xfrm>
          <a:prstGeom prst="rect">
            <a:avLst/>
          </a:prstGeom>
          <a:solidFill>
            <a:srgbClr val="D9E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162300" y="1952625"/>
            <a:ext cx="1714500" cy="55245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276600" y="2124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线性加权</a:t>
            </a: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z = </a:t>
            </a:r>
            <a:r>
              <a:rPr sz="1125" b="1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wx</a:t>
            </a: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b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10150" y="2219325"/>
            <a:ext cx="400050" cy="19050"/>
          </a:xfrm>
          <a:prstGeom prst="rect">
            <a:avLst/>
          </a:prstGeom>
          <a:solidFill>
            <a:srgbClr val="D9E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543550" y="1952625"/>
            <a:ext cx="1714500" cy="5524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657850" y="2124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激活输出 a = f(z)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91400" y="2219325"/>
            <a:ext cx="400050" cy="19050"/>
          </a:xfrm>
          <a:prstGeom prst="rect">
            <a:avLst/>
          </a:prstGeom>
          <a:solidFill>
            <a:srgbClr val="D9E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924800" y="1952625"/>
            <a:ext cx="1714500" cy="55245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039100" y="2124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</a:t>
            </a: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L(a, y)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19250" y="3238500"/>
            <a:ext cx="7810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905000" y="337185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∂L/∂w = ∂L/∂a × ∂a/∂z × ∂z/∂w</a:t>
            </a:r>
            <a:endParaRPr sz="1650" b="1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19250" y="3981450"/>
            <a:ext cx="7810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905000" y="41148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 ← w - η × ∂L/∂w</a:t>
            </a:r>
            <a:endParaRPr sz="1650" b="1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19250" y="4953000"/>
            <a:ext cx="7810500" cy="66294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905000" y="51054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梯度告诉我们参数应该朝哪个方向调整，学习率</a:t>
            </a:r>
            <a:r>
              <a: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η</a:t>
            </a:r>
            <a:r>
              <a:rPr lang="zh-CN" altLang="en-US"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350"/>
              <a:t>较小的数值会导致学习速度较慢，而较大的数值可能导致训练过程中的行为不可预测</a:t>
            </a:r>
            <a:endParaRPr sz="13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训练流程</a:t>
            </a:r>
            <a:endParaRPr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10490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训练过程是“前向得到预测，反向更新参数”的循环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8954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18097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随机初始化参数。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44792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36220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输入样本，执行前向传播。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0003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9146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计算预测值与真实标签之间的损失。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55282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46710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反向传播计算梯度。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41052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40195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优化器根据梯度更新参数。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81800" y="1504950"/>
            <a:ext cx="37719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60525"/>
            <a:ext cx="3619500" cy="2413000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6858000" y="4610100"/>
            <a:ext cx="3619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067550" y="48196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理解重点</a:t>
            </a:r>
            <a:endParaRPr sz="12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67550" y="51435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损失函数衡量误差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39175" y="51435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梯度决定更新方向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67550" y="54102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多次迭代使损失逐步减小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857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基础概念</a:t>
            </a:r>
            <a:endParaRPr lang="zh-CN" altLang="en-US"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1040" y="1109662"/>
            <a:ext cx="3596640" cy="5362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卷积神经网络（</a:t>
            </a:r>
            <a:r>
              <a:rPr lang="en-US" altLang="zh-CN"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r>
              <a:rPr lang="zh-CN" altLang="en-US"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0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1040" y="1993581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25"/>
              <a:t>CNN</a:t>
            </a:r>
            <a:r>
              <a:rPr lang="zh-CN" altLang="en-US" sz="1425"/>
              <a:t>（</a:t>
            </a:r>
            <a:r>
              <a:rPr lang="en-US" altLang="zh-CN" sz="1425"/>
              <a:t>convolutional neutral network</a:t>
            </a:r>
            <a:r>
              <a:rPr lang="zh-CN" altLang="en-US" sz="1425"/>
              <a:t>）</a:t>
            </a:r>
            <a:r>
              <a:rPr lang="zh-CN" altLang="zh-CN" sz="1425"/>
              <a:t>是含有卷积层的神经网络，卷积层的作用就是用来自动学习、提取图像特征。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90410" y="1993581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425"/>
              <a:t>CNN</a:t>
            </a:r>
            <a:r>
              <a:rPr lang="zh-CN" altLang="zh-CN" sz="1425"/>
              <a:t>主要构成：卷积层、激活层、池化层和全连接层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1040" y="3439795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zh-CN"/>
              <a:t>卷积层：负责提取图像中的局部特征</a:t>
            </a:r>
            <a:endParaRPr lang="zh-CN" altLang="zh-CN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1040" y="4390709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zh-CN"/>
              <a:t>池化层：用来大幅度降低参数量级，即降温维</a:t>
            </a:r>
            <a:endParaRPr lang="zh-CN" altLang="zh-CN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1040" y="5341623"/>
            <a:ext cx="1025144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zh-CN"/>
              <a:t>全连接层：</a:t>
            </a:r>
            <a:r>
              <a:rPr lang="zh-CN" altLang="en-US"/>
              <a:t>线性求和</a:t>
            </a:r>
            <a:r>
              <a:rPr lang="en-US" altLang="zh-CN"/>
              <a:t>+</a:t>
            </a:r>
            <a:r>
              <a:rPr lang="zh-CN" altLang="en-US"/>
              <a:t>激活函数</a:t>
            </a:r>
            <a:r>
              <a:rPr lang="zh-CN" altLang="zh-CN"/>
              <a:t>用来输出想要的结果（只能处理二维数据，在处理前需要拉平）</a:t>
            </a:r>
            <a:endParaRPr lang="zh-CN" altLang="zh-CN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CNN结构</a:t>
            </a:r>
            <a:endParaRPr sz="28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185863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CNN适合处理图像，因为它保留并利用空间结构。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8954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18097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输入层读入图像张量</a:t>
            </a: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44792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36220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卷积层提取局部特征。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0003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9146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激活层引入非线性。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55282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46710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池化层降低尺寸和计算量。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41052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1550" y="40195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全连接层综合特征并输出分类结果。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81800" y="1504950"/>
            <a:ext cx="37719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700848"/>
            <a:ext cx="3619500" cy="2352675"/>
          </a:xfrm>
          <a:prstGeom prst="rect">
            <a:avLst/>
          </a:prstGeom>
        </p:spPr>
      </p:pic>
      <p:sp>
        <p:nvSpPr>
          <p:cNvPr id="18" name="矩形 17"/>
          <p:cNvSpPr>
            <a:spLocks noGrp="1"/>
          </p:cNvSpPr>
          <p:nvPr/>
        </p:nvSpPr>
        <p:spPr>
          <a:xfrm>
            <a:off x="6858000" y="4610100"/>
            <a:ext cx="3619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067550" y="48196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和普通全连接网络的区别</a:t>
            </a:r>
            <a:endParaRPr sz="12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67550" y="51435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局部连接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39175" y="51435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权值共享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67550" y="54102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平移不变性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39175" y="54102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更适合图像特征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单通道卷积</a:t>
            </a:r>
            <a:endParaRPr sz="20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133475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单通道卷积就是卷积核与局部图像块做点乘再求和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733550"/>
            <a:ext cx="415290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2264956"/>
            <a:ext cx="4000500" cy="1566087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5619750" y="1952625"/>
            <a:ext cx="4476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48350" y="22098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3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output[</a:t>
            </a:r>
            <a:r>
              <a:rPr sz="1350" b="1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i,j</a:t>
            </a:r>
            <a:r>
              <a:rPr sz="13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 = Σ </a:t>
            </a:r>
            <a:r>
              <a:rPr sz="1350" b="1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Σ</a:t>
            </a:r>
            <a:r>
              <a:rPr sz="13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input[</a:t>
            </a:r>
            <a:r>
              <a:rPr sz="1350" b="1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i+m</a:t>
            </a:r>
            <a:r>
              <a:rPr sz="13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, </a:t>
            </a:r>
            <a:r>
              <a:rPr sz="1350" b="1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j+n</a:t>
            </a:r>
            <a:r>
              <a:rPr sz="13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 × kernel[</a:t>
            </a:r>
            <a:r>
              <a:rPr sz="1350" b="1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m,n</a:t>
            </a:r>
            <a:r>
              <a:rPr sz="13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] + bias</a:t>
            </a:r>
            <a:endParaRPr sz="1350" b="1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619750" y="3238500"/>
            <a:ext cx="4476750" cy="78105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848350" y="3476625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每滑动到一个位置，就产生输出特征图中的一个值。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多通道卷积</a:t>
            </a:r>
            <a:endParaRPr sz="20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33400" y="102870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多通道卷积会在各输入通道分别计算，再把结果相加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685925"/>
            <a:ext cx="4914900" cy="30099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695" y="1762125"/>
            <a:ext cx="4600310" cy="28575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5905500" y="1809750"/>
            <a:ext cx="4381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115050" y="19716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单个输出通道 = Σ(每个输入通道的卷积结果) + bias</a:t>
            </a:r>
            <a:endParaRPr sz="13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905500" y="2762250"/>
            <a:ext cx="4381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15050" y="29241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输出通道数 = 卷积核个数</a:t>
            </a:r>
            <a:endParaRPr sz="13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905500" y="3714750"/>
            <a:ext cx="4381500" cy="5715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15050" y="38766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参数量 = C_in × K_h × K_w × C_out + C_out</a:t>
            </a:r>
            <a:endParaRPr sz="1275" b="1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90695" y="5829300"/>
            <a:ext cx="2588836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多通道</a:t>
            </a:r>
            <a:r>
              <a:rPr lang="zh-CN" altLang="en-US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多卷积核模型</a:t>
            </a:r>
            <a:endParaRPr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132" y="5440565"/>
            <a:ext cx="2119671" cy="12346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4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特征图</a:t>
            </a:r>
            <a:r>
              <a:rPr sz="24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尺寸推导</a:t>
            </a:r>
            <a:endParaRPr sz="24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266825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padding、stride和kernel</a:t>
            </a:r>
            <a:r>
              <a: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sz="22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size共同决定特征图尺寸</a:t>
            </a:r>
            <a:r>
              <a: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2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1952625"/>
            <a:ext cx="1714500" cy="5524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2124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输入尺寸</a:t>
            </a: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 × W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28900" y="2219325"/>
            <a:ext cx="400050" cy="19050"/>
          </a:xfrm>
          <a:prstGeom prst="rect">
            <a:avLst/>
          </a:prstGeom>
          <a:solidFill>
            <a:srgbClr val="D9E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162300" y="1952625"/>
            <a:ext cx="1714500" cy="55245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276600" y="2124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四周填充 P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10150" y="2219325"/>
            <a:ext cx="400050" cy="19050"/>
          </a:xfrm>
          <a:prstGeom prst="rect">
            <a:avLst/>
          </a:prstGeom>
          <a:solidFill>
            <a:srgbClr val="D9E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543550" y="1952625"/>
            <a:ext cx="1714500" cy="55245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657850" y="2124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卷积核 K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91400" y="2219325"/>
            <a:ext cx="400050" cy="19050"/>
          </a:xfrm>
          <a:prstGeom prst="rect">
            <a:avLst/>
          </a:prstGeom>
          <a:solidFill>
            <a:srgbClr val="D9E0E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924800" y="1952625"/>
            <a:ext cx="1714500" cy="55245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039100" y="2124075"/>
            <a:ext cx="1485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步长 S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19250" y="3238500"/>
            <a:ext cx="7810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905000" y="337185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H_out = floor((H + 2P - K) / S) + 1</a:t>
            </a:r>
            <a:endParaRPr sz="1650" b="1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19250" y="3981450"/>
            <a:ext cx="7810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905000" y="4114800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W_out = floor((W + 2P - K) / S) + 1</a:t>
            </a:r>
            <a:endParaRPr sz="1650" b="1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19250" y="4953000"/>
            <a:ext cx="7810500" cy="55245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905000" y="510540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例：715×1080 </a:t>
            </a:r>
            <a:r>
              <a:rPr sz="1350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图像，K</a:t>
            </a:r>
            <a:r>
              <a:rPr sz="135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=5，P=1，S=1，则输出为 713×1078。</a:t>
            </a:r>
            <a:endParaRPr sz="135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参数量推导</a:t>
            </a:r>
            <a:endParaRPr sz="9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810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卷积层参数量可以直接从输入通道、卷积核和输出通道推出。</a:t>
            </a:r>
            <a:endParaRPr sz="22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9050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1145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</a:t>
            </a:r>
            <a:endParaRPr sz="142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45745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参数量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= </a:t>
            </a: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C_in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× </a:t>
            </a: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K_h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× </a:t>
            </a: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K_w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× </a:t>
            </a: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C_out</a:t>
            </a: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+ </a:t>
            </a:r>
            <a:r>
              <a:rPr sz="1240" b="0" err="1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C_out</a:t>
            </a:r>
            <a:endParaRPr sz="124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43575" y="190500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953125" y="21145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Conv2d(3,6,3)</a:t>
            </a:r>
            <a:endParaRPr sz="1425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953125" y="245745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 × 3 × 3 × 6 + 6 = 168</a:t>
            </a:r>
            <a:endParaRPr sz="124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52425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37338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Conv2d(6,16,3)</a:t>
            </a:r>
            <a:endParaRPr sz="142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52500" y="407670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4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6 × 3 × 3 × 16 + 16 = 880</a:t>
            </a:r>
            <a:endParaRPr sz="124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743575" y="3524250"/>
            <a:ext cx="4286250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953125" y="37338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对应summary</a:t>
            </a:r>
            <a:endParaRPr sz="1425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953125" y="4076700"/>
            <a:ext cx="371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Conv2d-1参数168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Conv2d-4参数880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池化层</a:t>
            </a:r>
            <a:endParaRPr sz="9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810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池化层通过下采样减少特征图尺寸。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8954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18097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池化通常位于卷积层之后</a:t>
            </a: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44792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36220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最大池化取窗口中的最大值</a:t>
            </a: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30003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91465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平均池化取窗口中的平均值。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55282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467100"/>
            <a:ext cx="5086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池化通常不改变通道数，但会降低高和宽</a:t>
            </a:r>
            <a:r>
              <a:rPr sz="14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4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81800" y="1504950"/>
            <a:ext cx="377190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0973" y="1581150"/>
            <a:ext cx="3053554" cy="2571750"/>
          </a:xfrm>
          <a:prstGeom prst="rect">
            <a:avLst/>
          </a:prstGeom>
        </p:spPr>
      </p:pic>
      <p:sp>
        <p:nvSpPr>
          <p:cNvPr id="16" name="矩形 15"/>
          <p:cNvSpPr>
            <a:spLocks noGrp="1"/>
          </p:cNvSpPr>
          <p:nvPr/>
        </p:nvSpPr>
        <p:spPr>
          <a:xfrm>
            <a:off x="6858000" y="4610100"/>
            <a:ext cx="3619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067550" y="48196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公式示例</a:t>
            </a:r>
            <a:endParaRPr sz="12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067550" y="51435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MaxPool2d(2,2)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39175" y="51435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32×32 → 16×16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067550" y="5410200"/>
            <a:ext cx="13811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15×15 → 7×7或按floor取整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36927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PyCharm</a:t>
            </a:r>
            <a:r>
              <a:rPr lang="zh-CN" altLang="en-US" sz="20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演示卷积层输出</a:t>
            </a:r>
            <a:endParaRPr sz="20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91440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图片卷积演示：读取图片、调整维度、查看卷积输出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695450"/>
            <a:ext cx="5810250" cy="323850"/>
          </a:xfrm>
          <a:prstGeom prst="rect">
            <a:avLst/>
          </a:prstGeom>
          <a:solidFill>
            <a:srgbClr val="0F17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771650"/>
            <a:ext cx="550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convolutional_neutral_network.py</a:t>
            </a:r>
            <a:endParaRPr sz="900" b="1">
              <a:solidFill>
                <a:srgbClr val="DDE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019300"/>
            <a:ext cx="5810250" cy="32004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152650"/>
            <a:ext cx="550545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=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plt.imread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r'D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:\...\data\test.jpg')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img_tensor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=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torch.tensor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).float()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img_tensor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=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img_tensor.permute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(2, 0, 1)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img_tensor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=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img_tensor.unsqueeze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(0)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conv = nn.Conv2d(3, 4, 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kernel_size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=5, stride=1, padding=1)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pimg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= conv(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img_tensor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print(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img_tensor.shape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print(</a:t>
            </a:r>
            <a:r>
              <a:rPr sz="1090" b="0" err="1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pimg.shape</a:t>
            </a: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0" y="1695450"/>
            <a:ext cx="3905250" cy="323850"/>
          </a:xfrm>
          <a:prstGeom prst="rect">
            <a:avLst/>
          </a:prstGeom>
          <a:solidFill>
            <a:srgbClr val="E8EE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10400" y="1771650"/>
            <a:ext cx="3600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运行输出</a:t>
            </a:r>
            <a:endParaRPr sz="9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0" y="2019300"/>
            <a:ext cx="39052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010400" y="2171700"/>
            <a:ext cx="3600450" cy="144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torch.Size([1, 3, 715, 1080])</a:t>
            </a:r>
            <a:endParaRPr sz="120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torch.Size([1, 4, 713, 1078])</a:t>
            </a:r>
            <a:endParaRPr sz="120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0" y="4095750"/>
            <a:ext cx="3905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67550" y="42957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315200" y="421005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输入通道3对应RGB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4705350"/>
            <a:ext cx="3905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067550" y="490537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315200" y="481965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输出通道4表示4个卷积核产生4张特征图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PyCharm示例</a:t>
            </a:r>
            <a:endParaRPr sz="9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810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CIFAR10图像展示：数据集样本包含图片和标签。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695450"/>
            <a:ext cx="5810250" cy="323850"/>
          </a:xfrm>
          <a:prstGeom prst="rect">
            <a:avLst/>
          </a:prstGeom>
          <a:solidFill>
            <a:srgbClr val="0F17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771650"/>
            <a:ext cx="5505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CNN_train.py</a:t>
            </a:r>
            <a:endParaRPr sz="900" b="1">
              <a:solidFill>
                <a:srgbClr val="DDE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019300"/>
            <a:ext cx="5810250" cy="32004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152650"/>
            <a:ext cx="550545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train_datasets = CIFAR10(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root='./data',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train=True,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download=True,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transform=ToTensor()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img, target = train_datasets[114]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plt.imshow(img.permute(1, 2, 0))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plt.title(target)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plt.show()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858000" y="1695450"/>
            <a:ext cx="3905250" cy="323850"/>
          </a:xfrm>
          <a:prstGeom prst="rect">
            <a:avLst/>
          </a:prstGeom>
          <a:solidFill>
            <a:srgbClr val="E8EE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010400" y="1771650"/>
            <a:ext cx="3600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注意点</a:t>
            </a:r>
            <a:endParaRPr sz="900" b="1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0" y="2019300"/>
            <a:ext cx="3905250" cy="1676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010400" y="2171700"/>
            <a:ext cx="3600450" cy="144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train_datasets[114] 返回 (image, label)</a:t>
            </a:r>
            <a:endParaRPr sz="120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ToTensor() 后图片形状为 [C, H, W]</a:t>
            </a:r>
            <a:endParaRPr sz="120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00" b="0">
                <a:solidFill>
                  <a:srgbClr val="1F2933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imshow() 需要 [H, W, C]</a:t>
            </a:r>
            <a:endParaRPr sz="1200" b="0">
              <a:solidFill>
                <a:srgbClr val="1F2933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0" y="4095750"/>
            <a:ext cx="3905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67550" y="42957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315200" y="421005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不能把整个二元组直接传给imshow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4705350"/>
            <a:ext cx="39052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067550" y="490537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315200" y="4819650"/>
            <a:ext cx="3086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需要先拆出图片，再交换维度</a:t>
            </a:r>
            <a:endParaRPr sz="112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CNN代码</a:t>
            </a:r>
            <a:endParaRPr sz="9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810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CNN_train.py中搭建的网络结构。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1695450"/>
            <a:ext cx="5905500" cy="323850"/>
          </a:xfrm>
          <a:prstGeom prst="rect">
            <a:avLst/>
          </a:prstGeom>
          <a:solidFill>
            <a:srgbClr val="0F17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1771650"/>
            <a:ext cx="5600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PyCharm代码区</a:t>
            </a:r>
            <a:endParaRPr sz="900" b="1">
              <a:solidFill>
                <a:srgbClr val="DDE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2019300"/>
            <a:ext cx="5905500" cy="34861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152650"/>
            <a:ext cx="5600700" cy="327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class Net(nn.Module):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def __init__(self):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super().__init__()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self.conv1 = nn.Conv2d(3, 6, 3)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self.pool1 = nn.MaxPool2d(2, 2)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self.conv2 = nn.Conv2d(6, 16, 3)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self.pool2 = nn.MaxPool2d(2, 2)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self.flatten = nn.Flatten()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self.Linear1 = nn.Linear(576, 120)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self.Linear2 = nn.Linear(120, 84)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self.output = nn.Linear(84, 10)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0" y="1771650"/>
            <a:ext cx="3238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239000" y="19240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conv1</a:t>
            </a:r>
            <a:endParaRPr sz="1275" b="1">
              <a:solidFill>
                <a:srgbClr val="1F6F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305800" y="19240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RGB图像3通道 → 6个特征通道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0" y="2609850"/>
            <a:ext cx="3238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0" y="27622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B86E2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B86E2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conv2</a:t>
            </a:r>
            <a:endParaRPr sz="1275" b="1">
              <a:solidFill>
                <a:srgbClr val="B86E2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05800" y="27622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6个输入通道 → 16个输出通道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48500" y="3448050"/>
            <a:ext cx="3238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239000" y="36004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1F6F8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flatten</a:t>
            </a:r>
            <a:endParaRPr sz="1275" b="1">
              <a:solidFill>
                <a:srgbClr val="1F6F8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05800" y="36004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把特征图拉平成一维向量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48500" y="4286250"/>
            <a:ext cx="3238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39000" y="44386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B86E2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275" b="1">
                <a:solidFill>
                  <a:srgbClr val="B86E2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output</a:t>
            </a:r>
            <a:endParaRPr sz="1275" b="1">
              <a:solidFill>
                <a:srgbClr val="B86E2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05800" y="44386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输出CIFAR10的10类分数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0300" y="5124450"/>
            <a:ext cx="1846966" cy="117744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8046720" cy="4216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问题</a:t>
            </a:r>
            <a:r>
              <a:rPr lang="en-US" sz="2500" b="1">
                <a:solidFill>
                  <a:srgbClr val="0F172A"/>
                </a:solidFill>
                <a:latin typeface="微软雅黑" panose="020B0503020204020204" charset="-122"/>
              </a:rPr>
              <a:t>3</a:t>
            </a:r>
            <a:r>
              <a:rPr sz="2500" b="1">
                <a:solidFill>
                  <a:srgbClr val="0F172A"/>
                </a:solidFill>
                <a:latin typeface="微软雅黑" panose="020B0503020204020204" charset="-122"/>
              </a:rPr>
              <a:t>：CNN尺寸推导与 Linear 输入不匹配</a:t>
            </a:r>
            <a:endParaRPr sz="250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4" name="Rounded Rectangle 4"/>
          <p:cNvSpPr/>
          <p:nvPr/>
        </p:nvSpPr>
        <p:spPr>
          <a:xfrm>
            <a:off x="685800" y="1325880"/>
            <a:ext cx="4617720" cy="402336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5"/>
          <p:cNvSpPr txBox="1"/>
          <p:nvPr/>
        </p:nvSpPr>
        <p:spPr>
          <a:xfrm>
            <a:off x="932688" y="1618488"/>
            <a:ext cx="1005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微软雅黑" panose="020B0503020204020204" charset="-122"/>
              </a:rPr>
              <a:t>尺寸推导</a:t>
            </a:r>
            <a:endParaRPr sz="1400" b="1">
              <a:solidFill>
                <a:srgbClr val="2563E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932688" y="2057400"/>
            <a:ext cx="4041648" cy="2560320"/>
          </a:xfrm>
          <a:prstGeom prst="rect">
            <a:avLst/>
          </a:prstGeom>
          <a:solidFill>
            <a:srgbClr val="0F172A"/>
          </a:solidFill>
          <a:ln w="9525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1051560" y="2167128"/>
            <a:ext cx="3803904" cy="237743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920" b="0">
                <a:solidFill>
                  <a:srgbClr val="E2E8F0"/>
                </a:solidFill>
                <a:latin typeface="Consolas" panose="020B0609020204030204"/>
              </a:rPr>
              <a:t>H_out = floor((H + 2P - K) / S) + 1
W_out = floor((W + 2P - K) / S) + 1
CIFAR10: [3, 32, 32]
Conv2d(3,6,3):     32 -&gt; 30
MaxPool2d(2,2):     30 -&gt; 15
Conv2d(6,16,3):     15 -&gt; 13
MaxPool2d(2,2):     13 -&gt; 6
Flatten: 16 * 6 * 6 = 576</a:t>
            </a:r>
            <a:endParaRPr sz="920" b="0">
              <a:solidFill>
                <a:srgbClr val="E2E8F0"/>
              </a:solidFill>
              <a:latin typeface="Consolas" panose="020B060902020403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0976" y="4754880"/>
            <a:ext cx="32004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微软雅黑" panose="020B0503020204020204" charset="-122"/>
              </a:rPr>
              <a:t>所以 Linear1 的输入维度应为 576。</a:t>
            </a:r>
            <a:endParaRPr sz="1050" b="1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9" name="TextBox 10"/>
          <p:cNvSpPr txBox="1"/>
          <p:nvPr/>
        </p:nvSpPr>
        <p:spPr>
          <a:xfrm>
            <a:off x="5897880" y="1618488"/>
            <a:ext cx="1097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D9488"/>
                </a:solidFill>
                <a:latin typeface="微软雅黑" panose="020B0503020204020204" charset="-122"/>
              </a:rPr>
              <a:t>解决方法</a:t>
            </a:r>
            <a:endParaRPr sz="1400" b="1">
              <a:solidFill>
                <a:srgbClr val="0D9488"/>
              </a:solidFill>
              <a:latin typeface="微软雅黑" panose="020B0503020204020204" charset="-122"/>
            </a:endParaRPr>
          </a:p>
        </p:txBody>
      </p:sp>
      <p:sp>
        <p:nvSpPr>
          <p:cNvPr id="10" name="Oval 11"/>
          <p:cNvSpPr/>
          <p:nvPr/>
        </p:nvSpPr>
        <p:spPr>
          <a:xfrm>
            <a:off x="5897880" y="2103120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2"/>
          <p:cNvSpPr txBox="1"/>
          <p:nvPr/>
        </p:nvSpPr>
        <p:spPr>
          <a:xfrm>
            <a:off x="6062472" y="2029968"/>
            <a:ext cx="41330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微软雅黑" panose="020B0503020204020204" charset="-122"/>
              </a:rPr>
              <a:t>用 torchsummary 或 print(x.shape) 跟踪每层输出</a:t>
            </a:r>
            <a:endParaRPr sz="10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2" name="Oval 13"/>
          <p:cNvSpPr/>
          <p:nvPr/>
        </p:nvSpPr>
        <p:spPr>
          <a:xfrm>
            <a:off x="5897880" y="2496312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4"/>
          <p:cNvSpPr txBox="1"/>
          <p:nvPr/>
        </p:nvSpPr>
        <p:spPr>
          <a:xfrm>
            <a:off x="6062472" y="2423160"/>
            <a:ext cx="41330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微软雅黑" panose="020B0503020204020204" charset="-122"/>
              </a:rPr>
              <a:t>把 Flatten 前的形状写成推导过程，而不是硬猜</a:t>
            </a:r>
            <a:endParaRPr sz="10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4" name="Oval 15"/>
          <p:cNvSpPr/>
          <p:nvPr/>
        </p:nvSpPr>
        <p:spPr>
          <a:xfrm>
            <a:off x="5897880" y="2889504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6"/>
          <p:cNvSpPr txBox="1"/>
          <p:nvPr/>
        </p:nvSpPr>
        <p:spPr>
          <a:xfrm>
            <a:off x="6062472" y="2816352"/>
            <a:ext cx="41330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微软雅黑" panose="020B0503020204020204" charset="-122"/>
              </a:rPr>
              <a:t>换输入图片尺寸时，同步更新 Linear 输入维度</a:t>
            </a:r>
            <a:endParaRPr sz="10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6" name="Oval 17"/>
          <p:cNvSpPr/>
          <p:nvPr/>
        </p:nvSpPr>
        <p:spPr>
          <a:xfrm>
            <a:off x="5897880" y="3282696"/>
            <a:ext cx="82296" cy="8229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8"/>
          <p:cNvSpPr txBox="1"/>
          <p:nvPr/>
        </p:nvSpPr>
        <p:spPr>
          <a:xfrm>
            <a:off x="6062472" y="3209544"/>
            <a:ext cx="4133088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80" b="0">
                <a:solidFill>
                  <a:srgbClr val="1E293B"/>
                </a:solidFill>
                <a:latin typeface="微软雅黑" panose="020B0503020204020204" charset="-122"/>
              </a:rPr>
              <a:t>想减少手算错误，可引入 AdaptiveAvgPool2d 固定输出尺寸</a:t>
            </a:r>
            <a:endParaRPr sz="1080" b="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9"/>
          <p:cNvSpPr/>
          <p:nvPr/>
        </p:nvSpPr>
        <p:spPr>
          <a:xfrm>
            <a:off x="5897880" y="4114800"/>
            <a:ext cx="4343400" cy="749808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20"/>
          <p:cNvSpPr txBox="1"/>
          <p:nvPr/>
        </p:nvSpPr>
        <p:spPr>
          <a:xfrm>
            <a:off x="6172200" y="4352544"/>
            <a:ext cx="361188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1">
                <a:solidFill>
                  <a:srgbClr val="0D9488"/>
                </a:solidFill>
                <a:latin typeface="微软雅黑" panose="020B0503020204020204" charset="-122"/>
              </a:rPr>
              <a:t>排查口令：先看输入，再看通道，最后看 Flatten。</a:t>
            </a:r>
            <a:endParaRPr sz="1050" b="1">
              <a:solidFill>
                <a:srgbClr val="0D94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summary显示</a:t>
            </a:r>
            <a:endParaRPr sz="9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810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summary可以把每层输出尺寸和参数量显示出来。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676400"/>
            <a:ext cx="5048250" cy="323850"/>
          </a:xfrm>
          <a:prstGeom prst="rect">
            <a:avLst/>
          </a:prstGeom>
          <a:solidFill>
            <a:srgbClr val="0F17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1752600"/>
            <a:ext cx="4743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DDE6E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torchsummary输出</a:t>
            </a:r>
            <a:endParaRPr sz="900" b="1">
              <a:solidFill>
                <a:srgbClr val="DDE6E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000250"/>
            <a:ext cx="5048250" cy="38671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133600"/>
            <a:ext cx="4743450" cy="3657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Conv2d-1      [1, 6, 30, 30]       168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MaxPool2d-3   [1, 6, 15, 15]         0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Conv2d-4      [1, 16, 13, 13]      880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MaxPool2d-6   [1, 16, 6, 6]          0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Flatten-7     [1, 576]               0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Linear-8      [1, 120]          69,240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Linear-10     [1, 84]           10,164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Linear-12     [1, 10]              850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def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090" b="0">
                <a:solidFill>
                  <a:srgbClr val="F2F5F7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Total params: 81,302</a:t>
            </a:r>
            <a:endParaRPr sz="1090" b="0">
              <a:solidFill>
                <a:srgbClr val="F2F5F7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1771650"/>
            <a:ext cx="409575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96050" y="190500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32×32 经 3×3 卷积：30×30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2495550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96050" y="262890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30×30 经 2×2 池化：15×15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0" y="3219450"/>
            <a:ext cx="409575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96050" y="335280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15×15 经 3×3 卷积：13×13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86500" y="3943350"/>
            <a:ext cx="4095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96050" y="407670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13×13 经 2×2 池化：6×6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0" y="4667250"/>
            <a:ext cx="409575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96050" y="4800600"/>
            <a:ext cx="3619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40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16×6×6 = 576，所以Linear1输入为576</a:t>
            </a:r>
            <a:endParaRPr sz="1240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784" y="940777"/>
            <a:ext cx="4836312" cy="3091299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552450" y="400050"/>
            <a:ext cx="2392973" cy="32971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r>
              <a:rPr lang="zh-CN" altLang="en-US" sz="24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模型测试</a:t>
            </a:r>
            <a:endParaRPr sz="24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65992" y="1129812"/>
            <a:ext cx="2725616" cy="3297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r>
              <a:rPr lang="zh-CN" altLang="en-US" sz="1200"/>
              <a:t>在模型训练后，保存训练后模型参数</a:t>
            </a:r>
            <a:endParaRPr lang="zh-CN" altLang="en-US" sz="1200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65992" y="1694718"/>
            <a:ext cx="1803888" cy="3297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r>
              <a:rPr lang="zh-CN" altLang="en-US" sz="1200"/>
              <a:t>加载模型参数进行测试</a:t>
            </a:r>
            <a:endParaRPr lang="zh-CN" altLang="en-US" sz="1200"/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58517" y="3429000"/>
            <a:ext cx="4095750" cy="457200"/>
          </a:xfrm>
          <a:prstGeom prst="rect">
            <a:avLst/>
          </a:prstGeom>
          <a:solidFill>
            <a:srgbClr val="EEF3F6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r>
              <a:rPr lang="zh-CN" altLang="en-US"/>
              <a:t>测试结果：正确率为</a:t>
            </a:r>
            <a:r>
              <a:rPr lang="en-US" altLang="zh-CN"/>
              <a:t>0.69</a:t>
            </a:r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65992" y="2424480"/>
            <a:ext cx="1803888" cy="3297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r>
              <a:rPr lang="zh-CN" altLang="en-US" sz="1200"/>
              <a:t>测试数据集为</a:t>
            </a:r>
            <a:r>
              <a:rPr lang="en-US" altLang="zh-CN" sz="1200"/>
              <a:t>1w</a:t>
            </a:r>
            <a:r>
              <a:rPr lang="zh-CN" altLang="en-US" sz="1200"/>
              <a:t>张图片</a:t>
            </a:r>
            <a:endParaRPr lang="zh-CN" altLang="en-US" sz="1200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5316" y="6502020"/>
            <a:ext cx="4350728" cy="291542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r>
              <a:rPr lang="zh-CN" altLang="en-US" sz="1200"/>
              <a:t>整体流程：准备数据集、构建</a:t>
            </a:r>
            <a:r>
              <a:rPr lang="en-US" altLang="zh-CN" sz="1200"/>
              <a:t>CNN</a:t>
            </a:r>
            <a:r>
              <a:rPr lang="zh-CN" altLang="en-US" sz="1200"/>
              <a:t>网络、模型训练、模型测试</a:t>
            </a:r>
            <a:endParaRPr lang="zh-CN" altLang="en-US" sz="1200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5316" y="5042496"/>
            <a:ext cx="7464683" cy="238784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  <p:txBody>
          <a:bodyPr/>
          <a:lstStyle/>
          <a:p>
            <a:r>
              <a:rPr lang="zh-CN" altLang="en-US" sz="1200"/>
              <a:t>提高正确率方法：</a:t>
            </a:r>
            <a:r>
              <a:rPr lang="en-US" altLang="zh-CN" sz="1200"/>
              <a:t>1</a:t>
            </a:r>
            <a:r>
              <a:rPr lang="zh-CN" altLang="en-US" sz="1200"/>
              <a:t>、增加卷积核    </a:t>
            </a:r>
            <a:r>
              <a:rPr lang="en-US" altLang="zh-CN" sz="1200"/>
              <a:t>2</a:t>
            </a:r>
            <a:r>
              <a:rPr lang="zh-CN" altLang="en-US" sz="1200"/>
              <a:t>、增加全连接层参数量      </a:t>
            </a:r>
            <a:r>
              <a:rPr lang="en-US" altLang="zh-CN" sz="1200"/>
              <a:t>3</a:t>
            </a:r>
            <a:r>
              <a:rPr lang="zh-CN" altLang="en-US" sz="1200"/>
              <a:t>、调整学习率     </a:t>
            </a:r>
            <a:r>
              <a:rPr lang="en-US" altLang="zh-CN" sz="1200"/>
              <a:t>4</a:t>
            </a:r>
            <a:r>
              <a:rPr lang="zh-CN" altLang="en-US" sz="1200"/>
              <a:t>、调整优化方法    等等</a:t>
            </a:r>
            <a:endParaRPr lang="zh-CN" altLang="en-US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调试记录</a:t>
            </a:r>
            <a:endParaRPr sz="975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781050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2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工程中遇到的问题主要集中在路径、维度、类型和设备一致性。</a:t>
            </a:r>
            <a:endParaRPr sz="22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790700"/>
            <a:ext cx="4191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0193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路径</a:t>
            </a:r>
            <a:endParaRPr sz="15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933575" y="19812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test.jpg不在当前工作目录，改为真实data路径</a:t>
            </a:r>
            <a:r>
              <a: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695950" y="1790700"/>
            <a:ext cx="4191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905500" y="20193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dtype</a:t>
            </a:r>
            <a:endParaRPr sz="1500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86575" y="19812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图片是uint8，卷积权重是float，需要 .float()。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2914650"/>
            <a:ext cx="4191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52500" y="31432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shape</a:t>
            </a:r>
            <a:endParaRPr sz="15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933575" y="310515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imshow用HWC，Conv2d用NCHW。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695950" y="2914650"/>
            <a:ext cx="4191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905500" y="314325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device</a:t>
            </a:r>
            <a:endParaRPr sz="1500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86575" y="310515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summary输入在CUDA时，模型也要在CUDA</a:t>
            </a:r>
            <a:r>
              <a: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4038600"/>
            <a:ext cx="4191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52500" y="426720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</a:t>
            </a:r>
            <a:endParaRPr sz="15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933575" y="4229100"/>
            <a:ext cx="2667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65" b="0" err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PyCharm的InterAgg与Matplotlib版本不兼容，改用TkAgg</a:t>
            </a:r>
            <a:r>
              <a:rPr sz="1165" b="0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165" b="0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000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 err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阶段小结</a:t>
            </a:r>
            <a:endParaRPr sz="20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1119188"/>
            <a:ext cx="9715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550" b="1" err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本阶段已从笔记学习推进到CNN结构实现</a:t>
            </a:r>
            <a:r>
              <a:rPr sz="2550" b="1">
                <a:solidFill>
                  <a:srgbClr val="1F2933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sz="2550" b="1">
              <a:solidFill>
                <a:srgbClr val="1F2933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400050"/>
            <a:ext cx="533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B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275" b="1">
              <a:solidFill>
                <a:srgbClr val="5B66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809750"/>
            <a:ext cx="4572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000750" y="1809750"/>
            <a:ext cx="4572000" cy="333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0E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90600" y="20764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F6F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500" b="1">
              <a:solidFill>
                <a:srgbClr val="1F6F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47750" y="26574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95400" y="2571750"/>
            <a:ext cx="3467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理解深度学习、张量、神经网络和反向传播。</a:t>
            </a:r>
            <a:endParaRPr sz="127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334327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3257550"/>
            <a:ext cx="3467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整理卷积层、池化层、全连接层作用。</a:t>
            </a:r>
            <a:endParaRPr sz="127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47750" y="40290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95400" y="3943350"/>
            <a:ext cx="3467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 err="1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用PyTorch完成普通神经网络和CNN结构</a:t>
            </a:r>
            <a:r>
              <a:rPr sz="127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7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48400" y="20764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B86E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后续方向</a:t>
            </a:r>
            <a:endParaRPr sz="1500" b="1">
              <a:solidFill>
                <a:srgbClr val="B86E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05550" y="26574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553200" y="2571750"/>
            <a:ext cx="3467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27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>
                <a:solidFill>
                  <a:srgbClr val="1E293B"/>
                </a:solidFill>
                <a:latin typeface="微软雅黑" panose="020B0503020204020204" charset="-122"/>
              </a:rPr>
              <a:t>补齐训练循环：</a:t>
            </a:r>
            <a:r>
              <a:rPr lang="en-US" altLang="zh-CN" sz="1400">
                <a:solidFill>
                  <a:srgbClr val="1E293B"/>
                </a:solidFill>
                <a:latin typeface="微软雅黑" panose="020B0503020204020204" charset="-122"/>
              </a:rPr>
              <a:t>loss</a:t>
            </a:r>
            <a:r>
              <a:rPr lang="zh-CN" altLang="en-US" sz="1400">
                <a:solidFill>
                  <a:srgbClr val="1E293B"/>
                </a:solidFill>
                <a:latin typeface="微软雅黑" panose="020B0503020204020204" charset="-122"/>
              </a:rPr>
              <a:t>曲线、准确率曲线</a:t>
            </a:r>
            <a:endParaRPr sz="127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05550" y="3343275"/>
            <a:ext cx="76200" cy="76200"/>
          </a:xfrm>
          <a:prstGeom prst="rect">
            <a:avLst/>
          </a:prstGeom>
          <a:solidFill>
            <a:srgbClr val="B86E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53200" y="3257550"/>
            <a:ext cx="3467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F29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理解路径、dtype、维度、CPU/CUDA一致性问题。</a:t>
            </a:r>
            <a:endParaRPr sz="1275" b="0">
              <a:solidFill>
                <a:srgbClr val="1F29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05550" y="4029075"/>
            <a:ext cx="76200" cy="76200"/>
          </a:xfrm>
          <a:prstGeom prst="rect">
            <a:avLst/>
          </a:prstGeom>
          <a:solidFill>
            <a:srgbClr val="1F6F8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53200" y="3943350"/>
            <a:ext cx="34671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400">
                <a:solidFill>
                  <a:srgbClr val="1E293B"/>
                </a:solidFill>
                <a:latin typeface="微软雅黑" panose="020B0503020204020204" charset="-122"/>
              </a:rPr>
              <a:t>尝试数据增强、</a:t>
            </a:r>
            <a:r>
              <a:rPr lang="en-US" altLang="zh-CN" sz="1400">
                <a:solidFill>
                  <a:srgbClr val="1E293B"/>
                </a:solidFill>
                <a:latin typeface="微软雅黑" panose="020B0503020204020204" charset="-122"/>
              </a:rPr>
              <a:t>BatchNorm</a:t>
            </a:r>
            <a:r>
              <a:rPr lang="zh-CN" altLang="en-US" sz="1400">
                <a:solidFill>
                  <a:srgbClr val="1E293B"/>
                </a:solidFill>
                <a:latin typeface="微软雅黑" panose="020B0503020204020204" charset="-122"/>
              </a:rPr>
              <a:t>、</a:t>
            </a:r>
            <a:r>
              <a:rPr lang="en-US" altLang="zh-CN" sz="1400">
                <a:solidFill>
                  <a:srgbClr val="1E293B"/>
                </a:solidFill>
                <a:latin typeface="微软雅黑" panose="020B0503020204020204" charset="-122"/>
              </a:rPr>
              <a:t>Dropout</a:t>
            </a:r>
            <a:r>
              <a:rPr lang="zh-CN" altLang="en-US" sz="1400">
                <a:solidFill>
                  <a:srgbClr val="1E293B"/>
                </a:solidFill>
                <a:latin typeface="微软雅黑" panose="020B0503020204020204" charset="-122"/>
              </a:rPr>
              <a:t>、学习率调度。</a:t>
            </a:r>
            <a:endParaRPr lang="zh-CN" altLang="en-US" sz="1400">
              <a:solidFill>
                <a:srgbClr val="1E293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7488</Words>
  <Application>WPS 演示</Application>
  <PresentationFormat>宽屏</PresentationFormat>
  <Paragraphs>762</Paragraphs>
  <Slides>32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Microsoft YaHei UI</vt:lpstr>
      <vt:lpstr>Consolas</vt:lpstr>
      <vt:lpstr>Cambria Math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Kⅈꫛᧁ</cp:lastModifiedBy>
  <cp:revision>6</cp:revision>
  <dcterms:created xsi:type="dcterms:W3CDTF">2026-05-20T17:11:00Z</dcterms:created>
  <dcterms:modified xsi:type="dcterms:W3CDTF">2026-06-03T05:28:08Z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9ED49D18F7894A92B3E4B4676DB28DD9_12</vt:lpwstr>
  </property>
</Properties>
</file>